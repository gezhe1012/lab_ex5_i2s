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Lst>
  <p:notesMasterIdLst>
    <p:notesMasterId r:id="rId28"/>
  </p:notesMasterIdLst>
  <p:sldIdLst>
    <p:sldId id="256" r:id="rId4"/>
    <p:sldId id="257" r:id="rId5"/>
    <p:sldId id="258" r:id="rId6"/>
    <p:sldId id="259" r:id="rId7"/>
    <p:sldId id="260" r:id="rId8"/>
    <p:sldId id="26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2" userDrawn="1">
          <p15:clr>
            <a:srgbClr val="747775"/>
          </p15:clr>
        </p15:guide>
        <p15:guide id="2" pos="289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3" d="100"/>
          <a:sy n="93" d="100"/>
        </p:scale>
        <p:origin x="82" y="58"/>
      </p:cViewPr>
      <p:guideLst>
        <p:guide orient="horz" pos="1652"/>
        <p:guide pos="28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logo2.png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扩展要求为加分项，不强制全部完成。评委根据完成数量、技术难度、实现质量和现场展示效果综合评分。建议同学们根据自身基础选择1-2项深入实现，稳定完成1项即可获得一定分值。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logo2.png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logo2.png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logo2.png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3_自定义版式">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8218" y="0"/>
            <a:ext cx="12196482" cy="6858000"/>
          </a:xfrm>
          <a:prstGeom prst="rect">
            <a:avLst/>
          </a:prstGeom>
          <a:ln w="12700">
            <a:noFill/>
            <a:prstDash val="solid"/>
          </a:ln>
        </p:spPr>
      </p:pic>
      <p:sp>
        <p:nvSpPr>
          <p:cNvPr id="3" name="AutoShape 3"/>
          <p:cNvSpPr/>
          <p:nvPr/>
        </p:nvSpPr>
        <p:spPr>
          <a:xfrm rot="10800000" flipV="1">
            <a:off x="8759008" y="0"/>
            <a:ext cx="3445692" cy="6858000"/>
          </a:xfrm>
          <a:prstGeom prst="rtTriangle">
            <a:avLst/>
          </a:prstGeom>
          <a:solidFill>
            <a:srgbClr val="132141">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endParaRPr lang="en-US" sz="1100"/>
          </a:p>
        </p:txBody>
      </p:sp>
      <p:pic>
        <p:nvPicPr>
          <p:cNvPr id="4" name="Picture 4"/>
          <p:cNvPicPr>
            <a:picLocks noChangeAspect="1"/>
          </p:cNvPicPr>
          <p:nvPr/>
        </p:nvPicPr>
        <p:blipFill>
          <a:blip r:embed="rId3"/>
          <a:srcRect/>
          <a:stretch>
            <a:fillRect/>
          </a:stretch>
        </p:blipFill>
        <p:spPr>
          <a:xfrm>
            <a:off x="9749605" y="1213428"/>
            <a:ext cx="2455095" cy="5644572"/>
          </a:xfrm>
          <a:prstGeom prst="rect">
            <a:avLst/>
          </a:prstGeom>
          <a:ln w="12700">
            <a:noFill/>
            <a:prstDash val="solid"/>
          </a:ln>
        </p:spPr>
      </p:pic>
      <p:pic>
        <p:nvPicPr>
          <p:cNvPr id="5" name="Picture 5"/>
          <p:cNvPicPr>
            <a:picLocks noChangeAspect="1"/>
          </p:cNvPicPr>
          <p:nvPr/>
        </p:nvPicPr>
        <p:blipFill>
          <a:blip r:embed="rId4"/>
          <a:srcRect/>
          <a:stretch>
            <a:fillRect/>
          </a:stretch>
        </p:blipFill>
        <p:spPr>
          <a:xfrm>
            <a:off x="1119795" y="468072"/>
            <a:ext cx="2004406" cy="401481"/>
          </a:xfrm>
          <a:prstGeom prst="rect">
            <a:avLst/>
          </a:prstGeom>
          <a:ln w="12700">
            <a:noFill/>
            <a:prstDash val="solid"/>
          </a:ln>
        </p:spPr>
      </p:pic>
      <p:sp>
        <p:nvSpPr>
          <p:cNvPr id="6" name="AutoShape 6"/>
          <p:cNvSpPr/>
          <p:nvPr/>
        </p:nvSpPr>
        <p:spPr>
          <a:xfrm flipV="1">
            <a:off x="-8218" y="0"/>
            <a:ext cx="1117925" cy="2225020"/>
          </a:xfrm>
          <a:prstGeom prst="rtTriangle">
            <a:avLst/>
          </a:prstGeom>
          <a:solidFill>
            <a:srgbClr val="132141">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endParaRPr lang="en-US" sz="1100"/>
          </a:p>
        </p:txBody>
      </p:sp>
      <p:sp>
        <p:nvSpPr>
          <p:cNvPr id="7" name="AutoShape 7"/>
          <p:cNvSpPr/>
          <p:nvPr/>
        </p:nvSpPr>
        <p:spPr>
          <a:xfrm>
            <a:off x="0" y="6611779"/>
            <a:ext cx="2624436"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8" name="AutoShape 8"/>
          <p:cNvSpPr>
            <a:spLocks noGrp="1"/>
          </p:cNvSpPr>
          <p:nvPr>
            <p:ph type="body" sz="quarter" idx="2"/>
          </p:nvPr>
        </p:nvSpPr>
        <p:spPr>
          <a:xfrm>
            <a:off x="9448800" y="6492875"/>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FAADC">
                    <a:alpha val="100000"/>
                  </a:srgbClr>
                </a:solidFill>
                <a:latin typeface="思源黑体 CN Regular" panose="020B0500000000000000" charset="-122"/>
              </a:defRPr>
            </a:lvl1pPr>
          </a:lstStyle>
          <a:p>
            <a:pPr algn="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6_自定义版式">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6482" cy="6858000"/>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4482" y="0"/>
            <a:ext cx="12196482" cy="6858000"/>
          </a:xfrm>
          <a:prstGeom prst="rect">
            <a:avLst/>
          </a:prstGeom>
          <a:ln w="12700">
            <a:noFill/>
            <a:prstDash val="solid"/>
          </a:ln>
        </p:spPr>
      </p:pic>
      <p:pic>
        <p:nvPicPr>
          <p:cNvPr id="4" name="Picture 4"/>
          <p:cNvPicPr>
            <a:picLocks noChangeAspect="1"/>
          </p:cNvPicPr>
          <p:nvPr/>
        </p:nvPicPr>
        <p:blipFill>
          <a:blip r:embed="rId4"/>
          <a:srcRect/>
          <a:stretch>
            <a:fillRect/>
          </a:stretch>
        </p:blipFill>
        <p:spPr>
          <a:xfrm>
            <a:off x="9130600" y="345100"/>
            <a:ext cx="2552185" cy="511200"/>
          </a:xfrm>
          <a:prstGeom prst="rect">
            <a:avLst/>
          </a:prstGeom>
          <a:ln w="12700">
            <a:noFill/>
            <a:prstDash val="solid"/>
          </a:ln>
        </p:spPr>
      </p:pic>
      <p:sp>
        <p:nvSpPr>
          <p:cNvPr id="5" name="AutoShape 5"/>
          <p:cNvSpPr/>
          <p:nvPr/>
        </p:nvSpPr>
        <p:spPr>
          <a:xfrm>
            <a:off x="0" y="6611779"/>
            <a:ext cx="2624436"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a:spLocks noGrp="1"/>
          </p:cNvSpPr>
          <p:nvPr>
            <p:ph type="body" sz="quarter" idx="3"/>
          </p:nvPr>
        </p:nvSpPr>
        <p:spPr>
          <a:xfrm>
            <a:off x="9448800" y="6492875"/>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FAADC">
                    <a:alpha val="100000"/>
                  </a:srgbClr>
                </a:solidFill>
                <a:latin typeface="思源黑体 CN Regular" panose="020B0500000000000000" charset="-122"/>
              </a:defRPr>
            </a:lvl1pPr>
          </a:lstStyle>
          <a:p>
            <a:pPr algn="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自定义版式">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6482" cy="6858000"/>
          </a:xfrm>
          <a:prstGeom prst="rect">
            <a:avLst/>
          </a:prstGeom>
          <a:ln w="12700">
            <a:noFill/>
            <a:prstDash val="solid"/>
          </a:ln>
        </p:spPr>
      </p:pic>
      <p:sp>
        <p:nvSpPr>
          <p:cNvPr id="3" name="Freeform 3"/>
          <p:cNvSpPr/>
          <p:nvPr/>
        </p:nvSpPr>
        <p:spPr>
          <a:xfrm rot="-5400000">
            <a:off x="-2932718" y="2920017"/>
            <a:ext cx="6858000" cy="1017963"/>
          </a:xfrm>
          <a:custGeom>
            <a:avLst/>
            <a:gdLst/>
            <a:ahLst/>
            <a:cxnLst/>
            <a:rect l="l" t="t" r="r" b="b"/>
            <a:pathLst>
              <a:path w="6858000" h="1017963">
                <a:moveTo>
                  <a:pt x="1312207" y="176682"/>
                </a:moveTo>
                <a:cubicBezTo>
                  <a:pt x="1250142" y="176682"/>
                  <a:pt x="1202687" y="199220"/>
                  <a:pt x="1169843" y="244297"/>
                </a:cubicBezTo>
                <a:cubicBezTo>
                  <a:pt x="1136997" y="289375"/>
                  <a:pt x="1120574" y="347476"/>
                  <a:pt x="1120574" y="418601"/>
                </a:cubicBezTo>
                <a:lnTo>
                  <a:pt x="1120574" y="598002"/>
                </a:lnTo>
                <a:cubicBezTo>
                  <a:pt x="1120574" y="669581"/>
                  <a:pt x="1137224" y="728022"/>
                  <a:pt x="1170522" y="773325"/>
                </a:cubicBezTo>
                <a:cubicBezTo>
                  <a:pt x="1203819" y="818629"/>
                  <a:pt x="1251501" y="841281"/>
                  <a:pt x="1313566" y="841281"/>
                </a:cubicBezTo>
                <a:cubicBezTo>
                  <a:pt x="1373820" y="841281"/>
                  <a:pt x="1420482" y="818629"/>
                  <a:pt x="1453554" y="773325"/>
                </a:cubicBezTo>
                <a:cubicBezTo>
                  <a:pt x="1486625" y="728022"/>
                  <a:pt x="1503161" y="669581"/>
                  <a:pt x="1503161" y="598002"/>
                </a:cubicBezTo>
                <a:lnTo>
                  <a:pt x="1503161" y="418601"/>
                </a:lnTo>
                <a:cubicBezTo>
                  <a:pt x="1503161" y="347929"/>
                  <a:pt x="1486511" y="289941"/>
                  <a:pt x="1453214" y="244636"/>
                </a:cubicBezTo>
                <a:cubicBezTo>
                  <a:pt x="1419916" y="199334"/>
                  <a:pt x="1372914" y="176682"/>
                  <a:pt x="1312207" y="176682"/>
                </a:cubicBezTo>
                <a:close/>
                <a:moveTo>
                  <a:pt x="5286205" y="14270"/>
                </a:moveTo>
                <a:lnTo>
                  <a:pt x="6034387" y="14270"/>
                </a:lnTo>
                <a:lnTo>
                  <a:pt x="6034387" y="190952"/>
                </a:lnTo>
                <a:lnTo>
                  <a:pt x="5772762" y="190952"/>
                </a:lnTo>
                <a:lnTo>
                  <a:pt x="5772762" y="1003692"/>
                </a:lnTo>
                <a:lnTo>
                  <a:pt x="5543074" y="1003692"/>
                </a:lnTo>
                <a:lnTo>
                  <a:pt x="5543074" y="190952"/>
                </a:lnTo>
                <a:lnTo>
                  <a:pt x="5286205" y="190952"/>
                </a:lnTo>
                <a:close/>
                <a:moveTo>
                  <a:pt x="4389201" y="14270"/>
                </a:moveTo>
                <a:lnTo>
                  <a:pt x="4618888" y="14270"/>
                </a:lnTo>
                <a:lnTo>
                  <a:pt x="4981089" y="636057"/>
                </a:lnTo>
                <a:lnTo>
                  <a:pt x="4985165" y="634696"/>
                </a:lnTo>
                <a:lnTo>
                  <a:pt x="4985165" y="14270"/>
                </a:lnTo>
                <a:lnTo>
                  <a:pt x="5214173" y="14270"/>
                </a:lnTo>
                <a:lnTo>
                  <a:pt x="5214173" y="1003692"/>
                </a:lnTo>
                <a:lnTo>
                  <a:pt x="4985165" y="1003692"/>
                </a:lnTo>
                <a:lnTo>
                  <a:pt x="4622966" y="381226"/>
                </a:lnTo>
                <a:lnTo>
                  <a:pt x="4618888" y="382586"/>
                </a:lnTo>
                <a:lnTo>
                  <a:pt x="4618888" y="1003692"/>
                </a:lnTo>
                <a:lnTo>
                  <a:pt x="4389201" y="1003692"/>
                </a:lnTo>
                <a:close/>
                <a:moveTo>
                  <a:pt x="3617234" y="14270"/>
                </a:moveTo>
                <a:lnTo>
                  <a:pt x="4265524" y="14270"/>
                </a:lnTo>
                <a:lnTo>
                  <a:pt x="4265524" y="190952"/>
                </a:lnTo>
                <a:lnTo>
                  <a:pt x="3846921" y="190952"/>
                </a:lnTo>
                <a:lnTo>
                  <a:pt x="3846921" y="403650"/>
                </a:lnTo>
                <a:lnTo>
                  <a:pt x="4195530" y="403650"/>
                </a:lnTo>
                <a:lnTo>
                  <a:pt x="4195530" y="580333"/>
                </a:lnTo>
                <a:lnTo>
                  <a:pt x="3846921" y="580333"/>
                </a:lnTo>
                <a:lnTo>
                  <a:pt x="3846921" y="827010"/>
                </a:lnTo>
                <a:lnTo>
                  <a:pt x="4264844" y="827010"/>
                </a:lnTo>
                <a:lnTo>
                  <a:pt x="4264844" y="1003692"/>
                </a:lnTo>
                <a:lnTo>
                  <a:pt x="3617234" y="1003692"/>
                </a:lnTo>
                <a:close/>
                <a:moveTo>
                  <a:pt x="2774596" y="14270"/>
                </a:moveTo>
                <a:lnTo>
                  <a:pt x="3522778" y="14270"/>
                </a:lnTo>
                <a:lnTo>
                  <a:pt x="3522778" y="190952"/>
                </a:lnTo>
                <a:lnTo>
                  <a:pt x="3261152" y="190952"/>
                </a:lnTo>
                <a:lnTo>
                  <a:pt x="3261152" y="1003692"/>
                </a:lnTo>
                <a:lnTo>
                  <a:pt x="3031465" y="1003692"/>
                </a:lnTo>
                <a:lnTo>
                  <a:pt x="3031465" y="190952"/>
                </a:lnTo>
                <a:lnTo>
                  <a:pt x="2774596" y="190952"/>
                </a:lnTo>
                <a:close/>
                <a:moveTo>
                  <a:pt x="1877591" y="14270"/>
                </a:moveTo>
                <a:lnTo>
                  <a:pt x="2107279" y="14270"/>
                </a:lnTo>
                <a:lnTo>
                  <a:pt x="2469478" y="636057"/>
                </a:lnTo>
                <a:lnTo>
                  <a:pt x="2473556" y="634696"/>
                </a:lnTo>
                <a:lnTo>
                  <a:pt x="2473556" y="14270"/>
                </a:lnTo>
                <a:lnTo>
                  <a:pt x="2702563" y="14270"/>
                </a:lnTo>
                <a:lnTo>
                  <a:pt x="2702563" y="1003692"/>
                </a:lnTo>
                <a:lnTo>
                  <a:pt x="2473556" y="1003692"/>
                </a:lnTo>
                <a:lnTo>
                  <a:pt x="2111356" y="381226"/>
                </a:lnTo>
                <a:lnTo>
                  <a:pt x="2107279" y="382586"/>
                </a:lnTo>
                <a:lnTo>
                  <a:pt x="2107279" y="1003692"/>
                </a:lnTo>
                <a:lnTo>
                  <a:pt x="1877591" y="1003692"/>
                </a:lnTo>
                <a:close/>
                <a:moveTo>
                  <a:pt x="6473375" y="0"/>
                </a:moveTo>
                <a:cubicBezTo>
                  <a:pt x="6586181" y="0"/>
                  <a:pt x="6677014" y="26389"/>
                  <a:pt x="6745874" y="79167"/>
                </a:cubicBezTo>
                <a:cubicBezTo>
                  <a:pt x="6814735" y="131944"/>
                  <a:pt x="6848033" y="206356"/>
                  <a:pt x="6845767" y="302398"/>
                </a:cubicBezTo>
                <a:lnTo>
                  <a:pt x="6844408" y="306476"/>
                </a:lnTo>
                <a:lnTo>
                  <a:pt x="6621517" y="306476"/>
                </a:lnTo>
                <a:cubicBezTo>
                  <a:pt x="6621517" y="259813"/>
                  <a:pt x="6608831" y="225950"/>
                  <a:pt x="6583462" y="204883"/>
                </a:cubicBezTo>
                <a:cubicBezTo>
                  <a:pt x="6558093" y="183817"/>
                  <a:pt x="6519810" y="173284"/>
                  <a:pt x="6468619" y="173284"/>
                </a:cubicBezTo>
                <a:cubicBezTo>
                  <a:pt x="6426939" y="173284"/>
                  <a:pt x="6394094" y="183478"/>
                  <a:pt x="6370084" y="203864"/>
                </a:cubicBezTo>
                <a:cubicBezTo>
                  <a:pt x="6346073" y="224250"/>
                  <a:pt x="6334068" y="249394"/>
                  <a:pt x="6334068" y="279293"/>
                </a:cubicBezTo>
                <a:cubicBezTo>
                  <a:pt x="6334068" y="308287"/>
                  <a:pt x="6346414" y="331506"/>
                  <a:pt x="6371104" y="348948"/>
                </a:cubicBezTo>
                <a:cubicBezTo>
                  <a:pt x="6395794" y="366389"/>
                  <a:pt x="6441890" y="388248"/>
                  <a:pt x="6509391" y="414524"/>
                </a:cubicBezTo>
                <a:cubicBezTo>
                  <a:pt x="6624009" y="448502"/>
                  <a:pt x="6710764" y="489953"/>
                  <a:pt x="6769659" y="538881"/>
                </a:cubicBezTo>
                <a:cubicBezTo>
                  <a:pt x="6828553" y="587809"/>
                  <a:pt x="6858000" y="654856"/>
                  <a:pt x="6858000" y="740028"/>
                </a:cubicBezTo>
                <a:cubicBezTo>
                  <a:pt x="6858000" y="827010"/>
                  <a:pt x="6824022" y="895077"/>
                  <a:pt x="6756067" y="944231"/>
                </a:cubicBezTo>
                <a:cubicBezTo>
                  <a:pt x="6688112" y="993385"/>
                  <a:pt x="6597959" y="1017963"/>
                  <a:pt x="6485607" y="1017963"/>
                </a:cubicBezTo>
                <a:cubicBezTo>
                  <a:pt x="6373708" y="1017963"/>
                  <a:pt x="6278912" y="991574"/>
                  <a:pt x="6201216" y="938795"/>
                </a:cubicBezTo>
                <a:cubicBezTo>
                  <a:pt x="6123521" y="886017"/>
                  <a:pt x="6085806" y="802999"/>
                  <a:pt x="6088073" y="689741"/>
                </a:cubicBezTo>
                <a:lnTo>
                  <a:pt x="6089430" y="685664"/>
                </a:lnTo>
                <a:lnTo>
                  <a:pt x="6313002" y="685664"/>
                </a:lnTo>
                <a:cubicBezTo>
                  <a:pt x="6313002" y="743199"/>
                  <a:pt x="6327159" y="784085"/>
                  <a:pt x="6355474" y="808322"/>
                </a:cubicBezTo>
                <a:cubicBezTo>
                  <a:pt x="6383788" y="832560"/>
                  <a:pt x="6427165" y="844678"/>
                  <a:pt x="6485607" y="844678"/>
                </a:cubicBezTo>
                <a:cubicBezTo>
                  <a:pt x="6533628" y="844678"/>
                  <a:pt x="6569418" y="835165"/>
                  <a:pt x="6592976" y="816138"/>
                </a:cubicBezTo>
                <a:cubicBezTo>
                  <a:pt x="6616534" y="797109"/>
                  <a:pt x="6628313" y="772193"/>
                  <a:pt x="6628313" y="741387"/>
                </a:cubicBezTo>
                <a:cubicBezTo>
                  <a:pt x="6628313" y="706050"/>
                  <a:pt x="6616761" y="678981"/>
                  <a:pt x="6593656" y="660182"/>
                </a:cubicBezTo>
                <a:cubicBezTo>
                  <a:pt x="6570551" y="641379"/>
                  <a:pt x="6528645" y="621334"/>
                  <a:pt x="6467939" y="600041"/>
                </a:cubicBezTo>
                <a:cubicBezTo>
                  <a:pt x="6345168" y="560174"/>
                  <a:pt x="6253994" y="517702"/>
                  <a:pt x="6194421" y="472624"/>
                </a:cubicBezTo>
                <a:cubicBezTo>
                  <a:pt x="6134847" y="427548"/>
                  <a:pt x="6105060" y="362652"/>
                  <a:pt x="6105060" y="277934"/>
                </a:cubicBezTo>
                <a:cubicBezTo>
                  <a:pt x="6105060" y="195030"/>
                  <a:pt x="6139717" y="127982"/>
                  <a:pt x="6209031" y="76788"/>
                </a:cubicBezTo>
                <a:cubicBezTo>
                  <a:pt x="6278345" y="25596"/>
                  <a:pt x="6366459" y="0"/>
                  <a:pt x="6473375" y="0"/>
                </a:cubicBezTo>
                <a:close/>
                <a:moveTo>
                  <a:pt x="1312207" y="0"/>
                </a:moveTo>
                <a:cubicBezTo>
                  <a:pt x="1436338" y="0"/>
                  <a:pt x="1537365" y="39639"/>
                  <a:pt x="1615286" y="118920"/>
                </a:cubicBezTo>
                <a:cubicBezTo>
                  <a:pt x="1693207" y="198200"/>
                  <a:pt x="1732168" y="298548"/>
                  <a:pt x="1732168" y="419961"/>
                </a:cubicBezTo>
                <a:lnTo>
                  <a:pt x="1732168" y="598002"/>
                </a:lnTo>
                <a:cubicBezTo>
                  <a:pt x="1732168" y="719868"/>
                  <a:pt x="1693548" y="820327"/>
                  <a:pt x="1616305" y="899382"/>
                </a:cubicBezTo>
                <a:cubicBezTo>
                  <a:pt x="1539063" y="978435"/>
                  <a:pt x="1438151" y="1017963"/>
                  <a:pt x="1313566" y="1017963"/>
                </a:cubicBezTo>
                <a:cubicBezTo>
                  <a:pt x="1188077" y="1017963"/>
                  <a:pt x="1086371" y="978435"/>
                  <a:pt x="1008450" y="899382"/>
                </a:cubicBezTo>
                <a:cubicBezTo>
                  <a:pt x="930528" y="820327"/>
                  <a:pt x="891567" y="719868"/>
                  <a:pt x="891567" y="598002"/>
                </a:cubicBezTo>
                <a:lnTo>
                  <a:pt x="891567" y="419961"/>
                </a:lnTo>
                <a:cubicBezTo>
                  <a:pt x="891567" y="298548"/>
                  <a:pt x="930415" y="198200"/>
                  <a:pt x="1008109" y="118920"/>
                </a:cubicBezTo>
                <a:cubicBezTo>
                  <a:pt x="1085804" y="39639"/>
                  <a:pt x="1187171" y="0"/>
                  <a:pt x="1312207" y="0"/>
                </a:cubicBezTo>
                <a:close/>
                <a:moveTo>
                  <a:pt x="390061" y="0"/>
                </a:moveTo>
                <a:cubicBezTo>
                  <a:pt x="515551" y="0"/>
                  <a:pt x="612612" y="29220"/>
                  <a:pt x="681247" y="87662"/>
                </a:cubicBezTo>
                <a:cubicBezTo>
                  <a:pt x="749882" y="146102"/>
                  <a:pt x="783293" y="231046"/>
                  <a:pt x="781481" y="342492"/>
                </a:cubicBezTo>
                <a:lnTo>
                  <a:pt x="779441" y="346569"/>
                </a:lnTo>
                <a:lnTo>
                  <a:pt x="555871" y="346569"/>
                </a:lnTo>
                <a:cubicBezTo>
                  <a:pt x="555871" y="285863"/>
                  <a:pt x="542959" y="242372"/>
                  <a:pt x="517136" y="216096"/>
                </a:cubicBezTo>
                <a:cubicBezTo>
                  <a:pt x="491313" y="189819"/>
                  <a:pt x="448955" y="176682"/>
                  <a:pt x="390061" y="176682"/>
                </a:cubicBezTo>
                <a:cubicBezTo>
                  <a:pt x="338416" y="176682"/>
                  <a:pt x="298775" y="197409"/>
                  <a:pt x="271140" y="238860"/>
                </a:cubicBezTo>
                <a:cubicBezTo>
                  <a:pt x="243506" y="280313"/>
                  <a:pt x="229687" y="335470"/>
                  <a:pt x="229687" y="404331"/>
                </a:cubicBezTo>
                <a:lnTo>
                  <a:pt x="229687" y="612272"/>
                </a:lnTo>
                <a:cubicBezTo>
                  <a:pt x="229687" y="681586"/>
                  <a:pt x="244864" y="737083"/>
                  <a:pt x="275218" y="778761"/>
                </a:cubicBezTo>
                <a:cubicBezTo>
                  <a:pt x="305570" y="820440"/>
                  <a:pt x="349061" y="841281"/>
                  <a:pt x="405691" y="841281"/>
                </a:cubicBezTo>
                <a:cubicBezTo>
                  <a:pt x="458241" y="841281"/>
                  <a:pt x="496183" y="828142"/>
                  <a:pt x="519515" y="801867"/>
                </a:cubicBezTo>
                <a:cubicBezTo>
                  <a:pt x="542846" y="775592"/>
                  <a:pt x="554511" y="731647"/>
                  <a:pt x="554511" y="670034"/>
                </a:cubicBezTo>
                <a:lnTo>
                  <a:pt x="778083" y="670034"/>
                </a:lnTo>
                <a:lnTo>
                  <a:pt x="779441" y="674112"/>
                </a:lnTo>
                <a:cubicBezTo>
                  <a:pt x="781254" y="786916"/>
                  <a:pt x="749430" y="872426"/>
                  <a:pt x="683965" y="930641"/>
                </a:cubicBezTo>
                <a:cubicBezTo>
                  <a:pt x="618503" y="988856"/>
                  <a:pt x="525743" y="1017963"/>
                  <a:pt x="405691" y="1017963"/>
                </a:cubicBezTo>
                <a:cubicBezTo>
                  <a:pt x="283371" y="1017963"/>
                  <a:pt x="185177" y="980589"/>
                  <a:pt x="111106" y="905838"/>
                </a:cubicBezTo>
                <a:cubicBezTo>
                  <a:pt x="37036" y="831087"/>
                  <a:pt x="0" y="733232"/>
                  <a:pt x="0" y="612272"/>
                </a:cubicBezTo>
                <a:lnTo>
                  <a:pt x="0" y="405690"/>
                </a:lnTo>
                <a:cubicBezTo>
                  <a:pt x="0" y="285182"/>
                  <a:pt x="35677" y="187442"/>
                  <a:pt x="107029" y="112465"/>
                </a:cubicBezTo>
                <a:cubicBezTo>
                  <a:pt x="178382" y="37488"/>
                  <a:pt x="272726" y="0"/>
                  <a:pt x="390061" y="0"/>
                </a:cubicBezTo>
                <a:close/>
              </a:path>
            </a:pathLst>
          </a:custGeom>
          <a:solidFill>
            <a:srgbClr val="132141">
              <a:alpha val="100000"/>
            </a:srgbClr>
          </a:solidFill>
          <a:ln w="12700">
            <a:noFill/>
            <a:prstDash val="solid"/>
          </a:ln>
        </p:spPr>
        <p:txBody>
          <a:bodyPr vert="horz" wrap="square" lIns="91440" tIns="45720" rIns="91440" bIns="45720" rtlCol="0" anchor="t">
            <a:noAutofit/>
          </a:bodyPr>
          <a:lstStyle/>
          <a:p>
            <a:pPr marL="0" indent="0" algn="l">
              <a:lnSpc>
                <a:spcPct val="100000"/>
              </a:lnSpc>
              <a:defRPr/>
            </a:pPr>
            <a:r>
              <a:rPr lang="en-US" sz="9600" b="0" i="0" u="none" strike="noStrike">
                <a:solidFill>
                  <a:srgbClr val="000000"/>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endParaRPr lang="en-US" sz="1100"/>
          </a:p>
        </p:txBody>
      </p:sp>
      <p:sp>
        <p:nvSpPr>
          <p:cNvPr id="4" name="AutoShape 4"/>
          <p:cNvSpPr>
            <a:spLocks noGrp="1"/>
          </p:cNvSpPr>
          <p:nvPr>
            <p:ph type="body" sz="quarter" idx="4"/>
          </p:nvPr>
        </p:nvSpPr>
        <p:spPr>
          <a:xfrm>
            <a:off x="9448800" y="6492875"/>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FAADC">
                    <a:alpha val="100000"/>
                  </a:srgbClr>
                </a:solidFill>
                <a:latin typeface="思源黑体 CN Regular" panose="020B0500000000000000" charset="-122"/>
              </a:defRPr>
            </a:lvl1pPr>
          </a:lstStyle>
          <a:p>
            <a:pPr algn="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自定义版式">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6482" cy="6858000"/>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7316354" y="0"/>
            <a:ext cx="4875646" cy="6858000"/>
          </a:xfrm>
          <a:prstGeom prst="rect">
            <a:avLst/>
          </a:prstGeom>
          <a:ln w="12700">
            <a:noFill/>
            <a:prstDash val="solid"/>
          </a:ln>
        </p:spPr>
      </p:pic>
      <p:sp>
        <p:nvSpPr>
          <p:cNvPr id="4" name="AutoShape 4"/>
          <p:cNvSpPr/>
          <p:nvPr/>
        </p:nvSpPr>
        <p:spPr>
          <a:xfrm>
            <a:off x="0" y="6611779"/>
            <a:ext cx="2624436"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5" name="AutoShape 5"/>
          <p:cNvSpPr>
            <a:spLocks noGrp="1"/>
          </p:cNvSpPr>
          <p:nvPr>
            <p:ph type="body" sz="quarter" idx="5"/>
          </p:nvPr>
        </p:nvSpPr>
        <p:spPr>
          <a:xfrm>
            <a:off x="9448800" y="6492875"/>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FAADC">
                    <a:alpha val="100000"/>
                  </a:srgbClr>
                </a:solidFill>
                <a:latin typeface="思源黑体 CN Regular" panose="020B0500000000000000" charset="-122"/>
              </a:defRPr>
            </a:lvl1pPr>
          </a:lstStyle>
          <a:p>
            <a:pPr algn="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674550"/>
            <a:ext cx="12196482" cy="6183449"/>
          </a:xfrm>
          <a:prstGeom prst="rect">
            <a:avLst/>
          </a:prstGeom>
          <a:ln w="12700">
            <a:noFill/>
            <a:prstDash val="solid"/>
          </a:ln>
        </p:spPr>
      </p:pic>
      <p:cxnSp>
        <p:nvCxnSpPr>
          <p:cNvPr id="3" name="Connector 3"/>
          <p:cNvCxnSpPr/>
          <p:nvPr/>
        </p:nvCxnSpPr>
        <p:spPr>
          <a:xfrm>
            <a:off x="840995" y="660492"/>
            <a:ext cx="11023627" cy="0"/>
          </a:xfrm>
          <a:prstGeom prst="line">
            <a:avLst/>
          </a:prstGeom>
          <a:noFill/>
          <a:ln w="12700" cap="flat">
            <a:solidFill>
              <a:srgbClr val="CD1020">
                <a:alpha val="100000"/>
              </a:srgbClr>
            </a:solidFill>
            <a:prstDash val="solid"/>
            <a:headEnd type="none" w="med" len="med"/>
            <a:tailEnd type="none" w="med" len="med"/>
          </a:ln>
        </p:spPr>
      </p:cxnSp>
      <p:pic>
        <p:nvPicPr>
          <p:cNvPr id="4" name="Picture 4"/>
          <p:cNvPicPr>
            <a:picLocks noChangeAspect="1"/>
          </p:cNvPicPr>
          <p:nvPr/>
        </p:nvPicPr>
        <p:blipFill>
          <a:blip r:embed="rId3"/>
          <a:srcRect/>
          <a:stretch>
            <a:fillRect/>
          </a:stretch>
        </p:blipFill>
        <p:spPr>
          <a:xfrm>
            <a:off x="0" y="0"/>
            <a:ext cx="1217404" cy="674551"/>
          </a:xfrm>
          <a:prstGeom prst="rect">
            <a:avLst/>
          </a:prstGeom>
          <a:ln w="12700">
            <a:noFill/>
            <a:prstDash val="solid"/>
          </a:ln>
        </p:spPr>
      </p:pic>
      <p:sp>
        <p:nvSpPr>
          <p:cNvPr id="5" name="AutoShape 5"/>
          <p:cNvSpPr/>
          <p:nvPr/>
        </p:nvSpPr>
        <p:spPr>
          <a:xfrm>
            <a:off x="0" y="6611779"/>
            <a:ext cx="2624436"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a:spLocks noGrp="1"/>
          </p:cNvSpPr>
          <p:nvPr>
            <p:ph type="body" sz="quarter" idx="6"/>
          </p:nvPr>
        </p:nvSpPr>
        <p:spPr>
          <a:xfrm>
            <a:off x="9448800" y="6492875"/>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FAADC">
                    <a:alpha val="100000"/>
                  </a:srgbClr>
                </a:solidFill>
                <a:latin typeface="思源黑体 CN Regular" panose="020B0500000000000000" charset="-122"/>
              </a:defRPr>
            </a:lvl1pPr>
          </a:lstStyle>
          <a:p>
            <a:pPr algn="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5_自定义版式">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2241" y="0"/>
            <a:ext cx="12196482" cy="6858000"/>
          </a:xfrm>
          <a:prstGeom prst="rect">
            <a:avLst/>
          </a:prstGeom>
          <a:ln w="12700">
            <a:noFill/>
            <a:prstDash val="solid"/>
          </a:ln>
        </p:spPr>
      </p:pic>
      <p:sp>
        <p:nvSpPr>
          <p:cNvPr id="3" name="AutoShape 3"/>
          <p:cNvSpPr/>
          <p:nvPr/>
        </p:nvSpPr>
        <p:spPr>
          <a:xfrm rot="10800000" flipV="1">
            <a:off x="8759008" y="0"/>
            <a:ext cx="3445692" cy="6858000"/>
          </a:xfrm>
          <a:prstGeom prst="rtTriangle">
            <a:avLst/>
          </a:prstGeom>
          <a:solidFill>
            <a:srgbClr val="132141">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endParaRPr lang="en-US" sz="1100"/>
          </a:p>
        </p:txBody>
      </p:sp>
      <p:pic>
        <p:nvPicPr>
          <p:cNvPr id="4" name="Picture 4"/>
          <p:cNvPicPr>
            <a:picLocks noChangeAspect="1"/>
          </p:cNvPicPr>
          <p:nvPr/>
        </p:nvPicPr>
        <p:blipFill>
          <a:blip r:embed="rId3"/>
          <a:srcRect/>
          <a:stretch>
            <a:fillRect/>
          </a:stretch>
        </p:blipFill>
        <p:spPr>
          <a:xfrm>
            <a:off x="9749605" y="1213428"/>
            <a:ext cx="2455095" cy="5644572"/>
          </a:xfrm>
          <a:prstGeom prst="rect">
            <a:avLst/>
          </a:prstGeom>
          <a:ln w="12700">
            <a:noFill/>
            <a:prstDash val="solid"/>
          </a:ln>
        </p:spPr>
      </p:pic>
      <p:sp>
        <p:nvSpPr>
          <p:cNvPr id="5" name="AutoShape 5"/>
          <p:cNvSpPr/>
          <p:nvPr/>
        </p:nvSpPr>
        <p:spPr>
          <a:xfrm flipV="1">
            <a:off x="-8218" y="0"/>
            <a:ext cx="1117925" cy="2225020"/>
          </a:xfrm>
          <a:prstGeom prst="rtTriangle">
            <a:avLst/>
          </a:prstGeom>
          <a:solidFill>
            <a:srgbClr val="132141">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endParaRPr lang="en-US" sz="1100"/>
          </a:p>
        </p:txBody>
      </p:sp>
      <p:pic>
        <p:nvPicPr>
          <p:cNvPr id="6" name="Picture 6"/>
          <p:cNvPicPr>
            <a:picLocks noChangeAspect="1"/>
          </p:cNvPicPr>
          <p:nvPr/>
        </p:nvPicPr>
        <p:blipFill>
          <a:blip r:embed="rId4"/>
          <a:srcRect/>
          <a:stretch>
            <a:fillRect/>
          </a:stretch>
        </p:blipFill>
        <p:spPr>
          <a:xfrm>
            <a:off x="1111087" y="376961"/>
            <a:ext cx="1734495" cy="347418"/>
          </a:xfrm>
          <a:prstGeom prst="rect">
            <a:avLst/>
          </a:prstGeom>
          <a:ln w="12700">
            <a:noFill/>
            <a:prstDash val="solid"/>
          </a:ln>
        </p:spPr>
      </p:pic>
      <p:sp>
        <p:nvSpPr>
          <p:cNvPr id="7" name="AutoShape 7"/>
          <p:cNvSpPr/>
          <p:nvPr/>
        </p:nvSpPr>
        <p:spPr>
          <a:xfrm>
            <a:off x="0" y="6611779"/>
            <a:ext cx="2624436"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8" name="AutoShape 8"/>
          <p:cNvSpPr>
            <a:spLocks noGrp="1"/>
          </p:cNvSpPr>
          <p:nvPr>
            <p:ph type="body" sz="quarter" idx="7"/>
          </p:nvPr>
        </p:nvSpPr>
        <p:spPr>
          <a:xfrm>
            <a:off x="9448800" y="6492875"/>
            <a:ext cx="2743200" cy="365125"/>
          </a:xfrm>
          <a:prstGeom prst="rect">
            <a:avLst/>
          </a:prstGeom>
          <a:noFill/>
          <a:ln w="12700">
            <a:noFill/>
            <a:prstDash val="solid"/>
          </a:ln>
        </p:spPr>
        <p:txBody>
          <a:bodyPr vert="horz" wrap="square" lIns="91440" tIns="45720" rIns="91440" bIns="45720" anchor="ctr">
            <a:noAutofit/>
          </a:bodyPr>
          <a:lstStyle>
            <a:lvl1pPr algn="r">
              <a:lnSpc>
                <a:spcPct val="100000"/>
              </a:lnSpc>
              <a:defRPr sz="1200" b="0" i="0" u="none" strike="noStrike" spc="0">
                <a:solidFill>
                  <a:srgbClr val="8FAADC">
                    <a:alpha val="100000"/>
                  </a:srgbClr>
                </a:solidFill>
                <a:latin typeface="思源黑体 CN Regular" panose="020B0500000000000000" charset="-122"/>
              </a:defRPr>
            </a:lvl1pPr>
          </a:lstStyle>
          <a:p>
            <a:pPr algn="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08260" y="1706693"/>
            <a:ext cx="5315204" cy="1279068"/>
          </a:xfrm>
          <a:prstGeom prst="rect">
            <a:avLst/>
          </a:prstGeom>
          <a:noFill/>
          <a:ln w="12700">
            <a:noFill/>
            <a:prstDash val="solid"/>
          </a:ln>
        </p:spPr>
        <p:txBody>
          <a:bodyPr wrap="square" lIns="91440" tIns="45720" rIns="91440" bIns="45720" rtlCol="0" anchor="t">
            <a:spAutoFit/>
          </a:bodyPr>
          <a:lstStyle/>
          <a:p>
            <a:pPr marL="0" indent="0" algn="l">
              <a:lnSpc>
                <a:spcPct val="108000"/>
              </a:lnSpc>
              <a:defRPr/>
            </a:pPr>
            <a:r>
              <a:rPr lang="en-US" sz="3600" b="1" i="0" u="none" strike="noStrike" spc="300">
                <a:solidFill>
                  <a:srgbClr val="132141"/>
                </a:solidFill>
                <a:latin typeface="思源黑体 CN Heavy"/>
                <a:ea typeface="思源黑体 CN Heavy"/>
                <a:cs typeface="思源黑体 CN Heavy"/>
                <a:sym typeface="思源黑体 CN Heavy"/>
              </a:rPr>
              <a:t>FPGA创新设计竞赛赛题解析</a:t>
            </a:r>
            <a:endParaRPr lang="en-US" sz="1100"/>
          </a:p>
        </p:txBody>
      </p:sp>
      <p:sp>
        <p:nvSpPr>
          <p:cNvPr id="3" name="AutoShape 3"/>
          <p:cNvSpPr/>
          <p:nvPr/>
        </p:nvSpPr>
        <p:spPr>
          <a:xfrm>
            <a:off x="1708259" y="2985761"/>
            <a:ext cx="3324949" cy="461665"/>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400" b="0" i="0" u="none" strike="noStrike" spc="30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安路赛道——选题一</a:t>
            </a:r>
            <a:endParaRPr lang="en-US" sz="1100"/>
          </a:p>
        </p:txBody>
      </p:sp>
      <p:sp>
        <p:nvSpPr>
          <p:cNvPr id="4" name="AutoShape 4"/>
          <p:cNvSpPr/>
          <p:nvPr/>
        </p:nvSpPr>
        <p:spPr>
          <a:xfrm>
            <a:off x="1708259" y="5362963"/>
            <a:ext cx="1495922" cy="307777"/>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400" b="0" i="0" u="none" strike="noStrike" spc="300">
                <a:solidFill>
                  <a:srgbClr val="132141"/>
                </a:solidFill>
                <a:latin typeface="思源黑体 CN Medium"/>
                <a:ea typeface="思源黑体 CN Medium"/>
                <a:cs typeface="思源黑体 CN Medium"/>
                <a:sym typeface="思源黑体 CN Medium"/>
              </a:rPr>
              <a:t>2026.09.05</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3539126" y="2164637"/>
            <a:ext cx="7382585" cy="2528727"/>
            <a:chOff x="3539126" y="2164637"/>
            <a:chExt cx="7382585" cy="2528727"/>
          </a:xfrm>
        </p:grpSpPr>
        <p:grpSp>
          <p:nvGrpSpPr>
            <p:cNvPr id="3" name="Group 3"/>
            <p:cNvGrpSpPr/>
            <p:nvPr/>
          </p:nvGrpSpPr>
          <p:grpSpPr>
            <a:xfrm>
              <a:off x="3539126" y="2164637"/>
              <a:ext cx="3862516" cy="921153"/>
              <a:chOff x="3539126" y="2164637"/>
              <a:chExt cx="3862516" cy="921153"/>
            </a:xfrm>
          </p:grpSpPr>
          <p:sp>
            <p:nvSpPr>
              <p:cNvPr id="4" name="AutoShape 4"/>
              <p:cNvSpPr/>
              <p:nvPr/>
            </p:nvSpPr>
            <p:spPr>
              <a:xfrm>
                <a:off x="3539126" y="2685680"/>
                <a:ext cx="3862516" cy="40011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000" b="0" i="0" u="none" strike="noStrike" spc="30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选题方向</a:t>
                </a:r>
                <a:endParaRPr lang="en-US" sz="1100"/>
              </a:p>
            </p:txBody>
          </p:sp>
          <p:sp>
            <p:nvSpPr>
              <p:cNvPr id="5" name="AutoShape 5"/>
              <p:cNvSpPr/>
              <p:nvPr/>
            </p:nvSpPr>
            <p:spPr>
              <a:xfrm>
                <a:off x="3539126" y="2164637"/>
                <a:ext cx="1479316" cy="52322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CD1220"/>
                    </a:solidFill>
                    <a:latin typeface="思源黑体 CN Heavy"/>
                    <a:ea typeface="思源黑体 CN Heavy"/>
                    <a:cs typeface="思源黑体 CN Heavy"/>
                    <a:sym typeface="思源黑体 CN Heavy"/>
                  </a:rPr>
                  <a:t>Part 01</a:t>
                </a:r>
                <a:endParaRPr lang="en-US" sz="1100"/>
              </a:p>
            </p:txBody>
          </p:sp>
        </p:grpSp>
        <p:grpSp>
          <p:nvGrpSpPr>
            <p:cNvPr id="6" name="Group 6"/>
            <p:cNvGrpSpPr/>
            <p:nvPr/>
          </p:nvGrpSpPr>
          <p:grpSpPr>
            <a:xfrm>
              <a:off x="3539126" y="3772211"/>
              <a:ext cx="3862516" cy="921153"/>
              <a:chOff x="3539126" y="3772211"/>
              <a:chExt cx="3862516" cy="921153"/>
            </a:xfrm>
          </p:grpSpPr>
          <p:sp>
            <p:nvSpPr>
              <p:cNvPr id="7" name="AutoShape 7"/>
              <p:cNvSpPr/>
              <p:nvPr/>
            </p:nvSpPr>
            <p:spPr>
              <a:xfrm>
                <a:off x="3539126" y="4293254"/>
                <a:ext cx="3862516" cy="40011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000" b="0" i="0" u="none" strike="noStrike" spc="30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竞赛技术平台</a:t>
                </a:r>
                <a:endParaRPr lang="en-US" sz="1100"/>
              </a:p>
            </p:txBody>
          </p:sp>
          <p:sp>
            <p:nvSpPr>
              <p:cNvPr id="8" name="AutoShape 8"/>
              <p:cNvSpPr/>
              <p:nvPr/>
            </p:nvSpPr>
            <p:spPr>
              <a:xfrm>
                <a:off x="3539126" y="3772211"/>
                <a:ext cx="1479316" cy="52322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CD1220"/>
                    </a:solidFill>
                    <a:latin typeface="思源黑体 CN Heavy"/>
                    <a:ea typeface="思源黑体 CN Heavy"/>
                    <a:cs typeface="思源黑体 CN Heavy"/>
                    <a:sym typeface="思源黑体 CN Heavy"/>
                  </a:rPr>
                  <a:t>Part 02</a:t>
                </a:r>
                <a:endParaRPr lang="en-US" sz="1100"/>
              </a:p>
            </p:txBody>
          </p:sp>
        </p:grpSp>
        <p:grpSp>
          <p:nvGrpSpPr>
            <p:cNvPr id="9" name="Group 9"/>
            <p:cNvGrpSpPr/>
            <p:nvPr/>
          </p:nvGrpSpPr>
          <p:grpSpPr>
            <a:xfrm>
              <a:off x="7059195" y="2164637"/>
              <a:ext cx="3862516" cy="921153"/>
              <a:chOff x="7059195" y="2164637"/>
              <a:chExt cx="3862516" cy="921153"/>
            </a:xfrm>
          </p:grpSpPr>
          <p:sp>
            <p:nvSpPr>
              <p:cNvPr id="10" name="AutoShape 10"/>
              <p:cNvSpPr/>
              <p:nvPr/>
            </p:nvSpPr>
            <p:spPr>
              <a:xfrm>
                <a:off x="7059195" y="2685680"/>
                <a:ext cx="3862516" cy="40011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000" b="0" i="0" u="none" strike="noStrike" spc="30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赛题解析</a:t>
                </a:r>
                <a:endParaRPr lang="en-US" sz="1100"/>
              </a:p>
            </p:txBody>
          </p:sp>
          <p:sp>
            <p:nvSpPr>
              <p:cNvPr id="11" name="AutoShape 11"/>
              <p:cNvSpPr/>
              <p:nvPr/>
            </p:nvSpPr>
            <p:spPr>
              <a:xfrm>
                <a:off x="7059195" y="2164637"/>
                <a:ext cx="1479316" cy="52322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CD1220"/>
                    </a:solidFill>
                    <a:latin typeface="思源黑体 CN Heavy"/>
                    <a:ea typeface="思源黑体 CN Heavy"/>
                    <a:cs typeface="思源黑体 CN Heavy"/>
                    <a:sym typeface="思源黑体 CN Heavy"/>
                  </a:rPr>
                  <a:t>Part 03</a:t>
                </a:r>
                <a:endParaRPr lang="en-US" sz="1100"/>
              </a:p>
            </p:txBody>
          </p:sp>
        </p:grpSp>
        <p:grpSp>
          <p:nvGrpSpPr>
            <p:cNvPr id="12" name="Group 12"/>
            <p:cNvGrpSpPr/>
            <p:nvPr/>
          </p:nvGrpSpPr>
          <p:grpSpPr>
            <a:xfrm>
              <a:off x="7059195" y="3772211"/>
              <a:ext cx="3862516" cy="921153"/>
              <a:chOff x="7059195" y="3772211"/>
              <a:chExt cx="3862516" cy="921153"/>
            </a:xfrm>
          </p:grpSpPr>
          <p:sp>
            <p:nvSpPr>
              <p:cNvPr id="13" name="AutoShape 13"/>
              <p:cNvSpPr/>
              <p:nvPr/>
            </p:nvSpPr>
            <p:spPr>
              <a:xfrm>
                <a:off x="7059195" y="4293254"/>
                <a:ext cx="3862516" cy="40011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000" b="0" i="0" u="none" strike="noStrike" spc="30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技术支持与技术资源</a:t>
                </a:r>
                <a:endParaRPr lang="en-US" sz="1100"/>
              </a:p>
            </p:txBody>
          </p:sp>
          <p:sp>
            <p:nvSpPr>
              <p:cNvPr id="14" name="AutoShape 14"/>
              <p:cNvSpPr/>
              <p:nvPr/>
            </p:nvSpPr>
            <p:spPr>
              <a:xfrm>
                <a:off x="7059195" y="3772211"/>
                <a:ext cx="1479316" cy="523220"/>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2800" b="0" i="0" u="none" strike="noStrike">
                    <a:solidFill>
                      <a:srgbClr val="CD1220"/>
                    </a:solidFill>
                    <a:latin typeface="思源黑体 CN Heavy"/>
                    <a:ea typeface="思源黑体 CN Heavy"/>
                    <a:cs typeface="思源黑体 CN Heavy"/>
                    <a:sym typeface="思源黑体 CN Heavy"/>
                  </a:rPr>
                  <a:t>Part 04</a:t>
                </a:r>
                <a:endParaRPr lang="en-US" sz="1100"/>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80480" y="2577313"/>
            <a:ext cx="2339102"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spc="600">
                <a:solidFill>
                  <a:srgbClr val="132141"/>
                </a:solidFill>
                <a:latin typeface="思源黑体 CN Heavy"/>
                <a:ea typeface="思源黑体 CN Heavy"/>
                <a:cs typeface="思源黑体 CN Heavy"/>
                <a:sym typeface="思源黑体 CN Heavy"/>
              </a:rPr>
              <a:t>选题方向</a:t>
            </a:r>
            <a:endParaRPr lang="en-US" sz="1100"/>
          </a:p>
        </p:txBody>
      </p:sp>
      <p:sp>
        <p:nvSpPr>
          <p:cNvPr id="3" name="AutoShape 3"/>
          <p:cNvSpPr/>
          <p:nvPr/>
        </p:nvSpPr>
        <p:spPr>
          <a:xfrm>
            <a:off x="971772" y="1731281"/>
            <a:ext cx="1852367"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a:solidFill>
                  <a:srgbClr val="CD1220"/>
                </a:solidFill>
                <a:latin typeface="思源黑体 CN Heavy"/>
                <a:ea typeface="思源黑体 CN Heavy"/>
                <a:cs typeface="思源黑体 CN Heavy"/>
                <a:sym typeface="思源黑体 CN Heavy"/>
              </a:rPr>
              <a:t>Part 01</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0" y="2033703"/>
            <a:ext cx="8454315" cy="2788071"/>
          </a:xfrm>
          <a:prstGeom prst="rect">
            <a:avLst/>
          </a:prstGeom>
          <a:noFill/>
          <a:ln w="12700">
            <a:noFill/>
            <a:prstDash val="solid"/>
          </a:ln>
        </p:spPr>
        <p:txBody>
          <a:bodyPr wrap="square" lIns="91440" tIns="45720" rIns="91440" bIns="45720" rtlCol="0" anchor="t">
            <a:spAutoFit/>
          </a:bodyPr>
          <a:lstStyle/>
          <a:p>
            <a:pPr marL="0" indent="0" algn="just">
              <a:lnSpc>
                <a:spcPct val="150000"/>
              </a:lnSpc>
              <a:spcAft>
                <a:spcPts val="1200"/>
              </a:spcAft>
              <a:defRPr/>
            </a:pP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本赛题面向基于FPGA的HDMI多媒体播放系统设计，适用于数字广告牌、商业展陈终端、应急信息发布、车载辅助显示及教育演示等应用场景。相比依赖通用处理器的软件栈方案，FPGA方案能够以更确定的时序、更低的显示延迟和更高的可靠性完成音视频展示。</a:t>
            </a:r>
            <a:endParaRPr lang="en-US" sz="1100" dirty="0"/>
          </a:p>
          <a:p>
            <a:pPr marL="0" indent="0" algn="just">
              <a:lnSpc>
                <a:spcPct val="150000"/>
              </a:lnSpc>
              <a:spcAft>
                <a:spcPts val="1200"/>
              </a:spcAft>
            </a:pP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比赛要求使用定制开发板，以安路科技EG4S20BG256器件作为核心平台。该器件采用BG256（17mm×17mm）封装，提供19,600个LUT、19,600个触发器、与一块SDRAM（2M×32bits）、</a:t>
            </a:r>
            <a:r>
              <a:rPr lang="en-US" sz="1600" b="0" i="0" u="none" strike="noStrike"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4个PLL、16路全局时钟以及最多193个用户IO，适合构建存储介质管理、帧缓存控制、视频显示与音频输出一体化系统</a:t>
            </a: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p>
        </p:txBody>
      </p:sp>
      <p:sp>
        <p:nvSpPr>
          <p:cNvPr id="4" name="AutoShape 4"/>
          <p:cNvSpPr/>
          <p:nvPr/>
        </p:nvSpPr>
        <p:spPr>
          <a:xfrm>
            <a:off x="680720" y="108148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dirty="0" err="1">
                <a:solidFill>
                  <a:srgbClr val="0D0D0D"/>
                </a:solidFill>
                <a:latin typeface="思源黑体 CN Heavy"/>
                <a:ea typeface="思源黑体 CN Heavy"/>
                <a:cs typeface="思源黑体 CN Heavy"/>
                <a:sym typeface="思源黑体 CN Heavy"/>
              </a:rPr>
              <a:t>赛题简介</a:t>
            </a:r>
            <a:endParaRPr lang="en-US" sz="1100" dirty="0"/>
          </a:p>
        </p:txBody>
      </p:sp>
      <p:sp>
        <p:nvSpPr>
          <p:cNvPr id="5" name="AutoShape 5"/>
          <p:cNvSpPr/>
          <p:nvPr/>
        </p:nvSpPr>
        <p:spPr>
          <a:xfrm>
            <a:off x="1092199" y="140708"/>
            <a:ext cx="9871975" cy="954107"/>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dirty="0" err="1">
                <a:solidFill>
                  <a:srgbClr val="0D0D0D"/>
                </a:solidFill>
                <a:latin typeface="思源黑体 CN Heavy"/>
                <a:ea typeface="思源黑体 CN Heavy"/>
                <a:cs typeface="思源黑体 CN Heavy"/>
                <a:sym typeface="思源黑体 CN Heavy"/>
              </a:rPr>
              <a:t>选题一：基于安路FPGA的HDMI多媒体展示系统</a:t>
            </a:r>
            <a:endParaRPr lang="en-US" sz="1100" dirty="0"/>
          </a:p>
          <a:p>
            <a:pPr marL="0" indent="0" algn="l">
              <a:lnSpc>
                <a:spcPct val="100000"/>
              </a:lnSpc>
            </a:pPr>
            <a:r>
              <a:rPr lang="en-US" sz="2800" b="0" i="0" u="none" strike="noStrike" dirty="0">
                <a:solidFill>
                  <a:srgbClr val="000000"/>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491988"/>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611779"/>
            <a:ext cx="2624436" cy="24622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9448800" y="6492875"/>
            <a:ext cx="2743200" cy="365125"/>
          </a:xfrm>
          <a:prstGeom prst="rect">
            <a:avLst/>
          </a:prstGeom>
          <a:noFill/>
          <a:ln w="12700" cap="flat" cmpd="sng">
            <a:noFill/>
            <a:prstDash val="solid"/>
            <a:round/>
          </a:ln>
        </p:spPr>
        <p:txBody>
          <a:bodyPr vert="horz" wrap="square" lIns="91440" tIns="45720" rIns="91440" bIns="45720" rtlCol="0" anchor="ctr" anchorCtr="0"/>
          <a:lstStyle/>
          <a:p>
            <a:pPr algn="r">
              <a:defRPr/>
            </a:pPr>
            <a:endParaRPr/>
          </a:p>
        </p:txBody>
      </p:sp>
      <p:sp>
        <p:nvSpPr>
          <p:cNvPr id="7" name="AutoShape 7"/>
          <p:cNvSpPr/>
          <p:nvPr/>
        </p:nvSpPr>
        <p:spPr>
          <a:xfrm>
            <a:off x="680720" y="1669726"/>
            <a:ext cx="9799021" cy="4931712"/>
          </a:xfrm>
          <a:prstGeom prst="roundRect">
            <a:avLst>
              <a:gd name="adj" fmla="val 0"/>
            </a:avLst>
          </a:prstGeom>
          <a:noFill/>
          <a:ln w="25400" cap="flat" cmpd="sng">
            <a:noFill/>
            <a:prstDash val="solid"/>
            <a:round/>
          </a:ln>
        </p:spPr>
        <p:txBody>
          <a:bodyPr vert="horz" wrap="square" lIns="91440" tIns="45720" rIns="91440" bIns="45720" rtlCol="0" anchor="t" anchorCtr="0"/>
          <a:lstStyle/>
          <a:p>
            <a:pPr indent="457200">
              <a:lnSpc>
                <a:spcPct val="150000"/>
              </a:lnSpc>
              <a:spcAft>
                <a:spcPts val="12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实现</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TF</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卡</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BMP</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图片读取与</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显示</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通过</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SPI</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接口读取</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TF</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卡中</a:t>
            </a:r>
            <a:r>
              <a:rPr lang="en-US" altLang="zh-CN" sz="1800"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640X480</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24-bit RGB</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非压缩</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BMP</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图片，解析后写入</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SDRAM</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帧缓存，</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接口实时输出至显示器</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p>
          <a:p>
            <a:pPr indent="457200">
              <a:lnSpc>
                <a:spcPct val="150000"/>
              </a:lnSpc>
              <a:spcAft>
                <a:spcPts val="12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实现图片切换与轮播功能</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支持按键手动切换图片与自动轮播模式，画面连续稳定，无明显闪烁或异常</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p>
          <a:p>
            <a:pPr indent="457200">
              <a:lnSpc>
                <a:spcPct val="150000"/>
              </a:lnSpc>
              <a:spcAft>
                <a:spcPts val="12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实现</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音频输出</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通过</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接口输出</a:t>
            </a:r>
            <a:r>
              <a:rPr lang="en-US" altLang="zh-CN" sz="1800"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48kHz</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音频测试音，实现音视频同步播放</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endPar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a:p>
            <a:pPr indent="457200">
              <a:lnSpc>
                <a:spcPct val="150000"/>
              </a:lnSpc>
              <a:spcAft>
                <a:spcPts val="12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系统稳定运行</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最终设计须固化在开发板上，上电即可运行，形成稳定的运行状态和良好的现场演示效果</a:t>
            </a:r>
            <a:r>
              <a:rPr lang="zh-CN" altLang="en-US" sz="1800" spc="300" dirty="0">
                <a:solidFill>
                  <a:srgbClr val="0D0D0D"/>
                </a:solidFill>
                <a:latin typeface="思源黑体 CN Normal"/>
                <a:ea typeface="思源黑体 CN Heavy"/>
                <a:cs typeface="思源黑体 CN Heavy"/>
                <a:sym typeface="思源黑体 CN Heavy"/>
              </a:rPr>
              <a:t>。</a:t>
            </a:r>
            <a:endParaRPr lang="en-US" altLang="zh-CN" sz="1800" spc="300" dirty="0">
              <a:solidFill>
                <a:srgbClr val="0D0D0D"/>
              </a:solidFill>
              <a:latin typeface="思源黑体 CN Normal"/>
              <a:ea typeface="思源黑体 CN Heavy"/>
              <a:cs typeface="思源黑体 CN Heavy"/>
              <a:sym typeface="思源黑体 CN Heavy"/>
            </a:endParaRPr>
          </a:p>
          <a:p>
            <a:pPr indent="457200">
              <a:spcAft>
                <a:spcPts val="1200"/>
              </a:spcAft>
              <a:defRPr/>
            </a:pPr>
            <a:endParaRPr lang="en-US" sz="1800" b="0" i="0" u="none" strike="noStrike" dirty="0">
              <a:solidFill>
                <a:srgbClr val="000000"/>
              </a:solidFill>
              <a:latin typeface="思源黑体 CN Normal"/>
              <a:ea typeface="Noto Sans SC" panose="020B0200000000000000" charset="-122"/>
              <a:cs typeface="Noto Sans SC" panose="020B0200000000000000" charset="-122"/>
              <a:sym typeface="Noto Sans SC" panose="020B0200000000000000" charset="-122"/>
            </a:endParaRPr>
          </a:p>
          <a:p>
            <a:pPr marL="0" indent="0" algn="just">
              <a:lnSpc>
                <a:spcPct val="150000"/>
              </a:lnSpc>
              <a:spcAft>
                <a:spcPts val="1200"/>
              </a:spcAft>
            </a:pP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基础要求在最终设计中必须全部实现</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just">
              <a:lnSpc>
                <a:spcPct val="150000"/>
              </a:lnSpc>
              <a:spcAft>
                <a:spcPts val="1200"/>
              </a:spcAft>
            </a:pP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使用开发板必须是HX4S20C开发板</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8" name="AutoShape 8"/>
          <p:cNvSpPr/>
          <p:nvPr/>
        </p:nvSpPr>
        <p:spPr>
          <a:xfrm>
            <a:off x="680720" y="1049020"/>
            <a:ext cx="8181340" cy="46164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zh-CN" altLang="en-US" sz="2400" spc="300" dirty="0">
                <a:solidFill>
                  <a:srgbClr val="0D0D0D"/>
                </a:solidFill>
                <a:latin typeface="思源黑体 CN Heavy"/>
                <a:ea typeface="思源黑体 CN Heavy"/>
                <a:cs typeface="思源黑体 CN Heavy"/>
                <a:sym typeface="思源黑体 CN Heavy"/>
              </a:rPr>
              <a:t>基础要求</a:t>
            </a:r>
            <a:endParaRPr lang="en-US" sz="2400" dirty="0"/>
          </a:p>
          <a:p>
            <a:pPr marL="0" indent="0" algn="l">
              <a:lnSpc>
                <a:spcPct val="100000"/>
              </a:lnSpc>
              <a:defRPr/>
            </a:pPr>
            <a:endParaRPr lang="en-US" sz="1100" dirty="0"/>
          </a:p>
        </p:txBody>
      </p:sp>
      <p:sp>
        <p:nvSpPr>
          <p:cNvPr id="9" name="AutoShape 9"/>
          <p:cNvSpPr/>
          <p:nvPr/>
        </p:nvSpPr>
        <p:spPr>
          <a:xfrm>
            <a:off x="1092200" y="140970"/>
            <a:ext cx="9067165" cy="523240"/>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en-US" sz="2800" spc="300" dirty="0" err="1">
                <a:solidFill>
                  <a:srgbClr val="0D0D0D"/>
                </a:solidFill>
                <a:latin typeface="思源黑体 CN Heavy"/>
                <a:ea typeface="思源黑体 CN Heavy"/>
                <a:cs typeface="思源黑体 CN Heavy"/>
                <a:sym typeface="思源黑体 CN Heavy"/>
              </a:rPr>
              <a:t>选题一：基于安路FPGA的HDMI多媒体展示系统</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88900" y="6515100"/>
            <a:ext cx="3810000" cy="254000"/>
          </a:xfrm>
          <a:prstGeom prst="rect">
            <a:avLst/>
          </a:prstGeom>
          <a:noFill/>
          <a:ln w="12700" cap="flat" cmpd="sng">
            <a:noFill/>
            <a:prstDash val="solid"/>
            <a:round/>
          </a:ln>
        </p:spPr>
        <p:txBody>
          <a:bodyPr vert="horz" wrap="square" lIns="91440" tIns="25400" rIns="91440" bIns="25400" rtlCol="0" anchor="ctr"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680720" y="1651000"/>
            <a:ext cx="9799021" cy="4696286"/>
          </a:xfrm>
          <a:prstGeom prst="roundRect">
            <a:avLst>
              <a:gd name="adj" fmla="val 0"/>
            </a:avLst>
          </a:prstGeom>
          <a:noFill/>
          <a:ln w="25400" cap="flat" cmpd="sng">
            <a:noFill/>
            <a:prstDash val="solid"/>
            <a:round/>
          </a:ln>
        </p:spPr>
        <p:txBody>
          <a:bodyPr vert="horz" wrap="square" lIns="91440" tIns="45720" rIns="91440" bIns="45720" rtlCol="0" anchor="t" anchorCtr="0"/>
          <a:lstStyle/>
          <a:p>
            <a:pPr indent="457200">
              <a:spcAft>
                <a:spcPts val="10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图层叠加与字幕效果</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在图片播放时叠加动态文字</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如时间戳或标语</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，探索多图层混合与平滑滚动效果；</a:t>
            </a:r>
            <a:endPar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a:p>
            <a:pPr indent="457200">
              <a:spcAft>
                <a:spcPts val="10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图片切换与转场特效</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实现图片轮播时融入过渡效果</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如淡入淡出、滑动等</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，力求切换过程画面连续；</a:t>
            </a:r>
            <a:endPar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a:p>
            <a:pPr indent="457200">
              <a:spcAft>
                <a:spcPts val="10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图片缩放适配</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支持不同分辨率图片的读取与缩放显示，以适应</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输出分辨率，鼓励优化缩放质量；</a:t>
            </a:r>
            <a:endPar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a:p>
            <a:pPr indent="457200">
              <a:spcAft>
                <a:spcPts val="10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实时调节与信息叠加</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利用板载开关或按键调节显示参数</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如亮度、对比度等</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，并在画面上呈现参数变化信息；</a:t>
            </a:r>
            <a:endPar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a:p>
            <a:pPr indent="457200">
              <a:spcAft>
                <a:spcPts val="1000"/>
              </a:spcAft>
              <a:defRPr/>
            </a:pP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音频可视化表现</a:t>
            </a:r>
            <a:r>
              <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结合音频数据生成频谱或波形显示，叠加于视频画面，增强交互展示效果。</a:t>
            </a:r>
            <a:endParaRPr lang="en-US" altLang="zh-CN" sz="18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a:p>
            <a:pPr marL="0" indent="0" algn="just">
              <a:lnSpc>
                <a:spcPct val="125000"/>
              </a:lnSpc>
              <a:spcAft>
                <a:spcPts val="1000"/>
              </a:spcAft>
            </a:pPr>
            <a:endParaRPr lang="en-US" sz="1700" b="0"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just">
              <a:lnSpc>
                <a:spcPct val="125000"/>
              </a:lnSpc>
              <a:spcAft>
                <a:spcPts val="1000"/>
              </a:spcAft>
            </a:pP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扩展要求在最终设计中至少实现1项，完成项数越多、质量越高，得分越高</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just">
              <a:lnSpc>
                <a:spcPct val="125000"/>
              </a:lnSpc>
              <a:spcAft>
                <a:spcPts val="1000"/>
              </a:spcAft>
            </a:pP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赛题网址：http</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www.fpgachina.cn</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download?value</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p>
        </p:txBody>
      </p:sp>
      <p:sp>
        <p:nvSpPr>
          <p:cNvPr id="7" name="AutoShape 7"/>
          <p:cNvSpPr/>
          <p:nvPr/>
        </p:nvSpPr>
        <p:spPr>
          <a:xfrm>
            <a:off x="680720" y="1049006"/>
            <a:ext cx="7513021" cy="461665"/>
          </a:xfrm>
          <a:prstGeom prst="roundRect">
            <a:avLst>
              <a:gd name="adj" fmla="val 0"/>
            </a:avLst>
          </a:prstGeom>
          <a:noFill/>
          <a:ln w="25400" cap="flat" cmpd="sng">
            <a:noFill/>
            <a:prstDash val="solid"/>
            <a:round/>
          </a:ln>
        </p:spPr>
        <p:txBody>
          <a:bodyPr vert="horz" wrap="square" lIns="91440" tIns="45720" rIns="91440" bIns="45720" rtlCol="0" anchor="t" anchorCtr="0"/>
          <a:lstStyle/>
          <a:p>
            <a:pPr>
              <a:defRPr/>
            </a:pPr>
            <a:r>
              <a:rPr lang="zh-CN" altLang="en-US" sz="2400" spc="300" dirty="0">
                <a:solidFill>
                  <a:srgbClr val="0D0D0D"/>
                </a:solidFill>
                <a:latin typeface="思源黑体 CN Heavy"/>
                <a:ea typeface="思源黑体 CN Heavy"/>
                <a:cs typeface="思源黑体 CN Heavy"/>
                <a:sym typeface="思源黑体 CN Heavy"/>
              </a:rPr>
              <a:t>扩展要求</a:t>
            </a:r>
            <a:endParaRPr lang="en-US" altLang="zh-CN" sz="2400" dirty="0"/>
          </a:p>
          <a:p>
            <a:pPr marL="0" indent="0" algn="l">
              <a:lnSpc>
                <a:spcPct val="100000"/>
              </a:lnSpc>
              <a:defRPr/>
            </a:pPr>
            <a:endParaRPr lang="en-US" sz="1100" dirty="0"/>
          </a:p>
        </p:txBody>
      </p:sp>
      <p:sp>
        <p:nvSpPr>
          <p:cNvPr id="8" name="AutoShape 8"/>
          <p:cNvSpPr/>
          <p:nvPr/>
        </p:nvSpPr>
        <p:spPr>
          <a:xfrm>
            <a:off x="1092200" y="140970"/>
            <a:ext cx="9251950" cy="523240"/>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en-US" sz="2800" spc="300">
                <a:solidFill>
                  <a:srgbClr val="0D0D0D"/>
                </a:solidFill>
                <a:latin typeface="思源黑体 CN Heavy"/>
                <a:ea typeface="思源黑体 CN Heavy"/>
                <a:cs typeface="思源黑体 CN Heavy"/>
                <a:sym typeface="思源黑体 CN Heavy"/>
              </a:rPr>
              <a:t>选题一：基于安路FPGA的HDMI多媒体展示系统</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80480" y="2577313"/>
            <a:ext cx="3416320"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spc="600">
                <a:solidFill>
                  <a:srgbClr val="132141"/>
                </a:solidFill>
                <a:latin typeface="思源黑体 CN Heavy"/>
                <a:ea typeface="思源黑体 CN Heavy"/>
                <a:cs typeface="思源黑体 CN Heavy"/>
                <a:sym typeface="思源黑体 CN Heavy"/>
              </a:rPr>
              <a:t>竞赛技术平台</a:t>
            </a:r>
            <a:endParaRPr lang="en-US" sz="1100"/>
          </a:p>
        </p:txBody>
      </p:sp>
      <p:sp>
        <p:nvSpPr>
          <p:cNvPr id="3" name="AutoShape 3"/>
          <p:cNvSpPr/>
          <p:nvPr/>
        </p:nvSpPr>
        <p:spPr>
          <a:xfrm>
            <a:off x="971772" y="1731281"/>
            <a:ext cx="1869423"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a:solidFill>
                  <a:srgbClr val="CD1220"/>
                </a:solidFill>
                <a:latin typeface="思源黑体 CN Heavy"/>
                <a:ea typeface="思源黑体 CN Heavy"/>
                <a:cs typeface="思源黑体 CN Heavy"/>
                <a:sym typeface="思源黑体 CN Heavy"/>
              </a:rPr>
              <a:t>Part 02</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HX4S20C开发板</a:t>
            </a:r>
            <a:endParaRPr lang="en-US" sz="1100"/>
          </a:p>
        </p:txBody>
      </p:sp>
      <p:sp>
        <p:nvSpPr>
          <p:cNvPr id="4" name="AutoShape 4"/>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竞赛技术平台</a:t>
            </a:r>
            <a:endParaRPr lang="en-US" sz="1100"/>
          </a:p>
        </p:txBody>
      </p:sp>
      <p:graphicFrame>
        <p:nvGraphicFramePr>
          <p:cNvPr id="5" name="Table 5"/>
          <p:cNvGraphicFramePr>
            <a:graphicFrameLocks noGrp="1"/>
          </p:cNvGraphicFramePr>
          <p:nvPr/>
        </p:nvGraphicFramePr>
        <p:xfrm>
          <a:off x="680720" y="1733244"/>
          <a:ext cx="6114527" cy="4544965"/>
        </p:xfrm>
        <a:graphic>
          <a:graphicData uri="http://schemas.openxmlformats.org/drawingml/2006/table">
            <a:tbl>
              <a:tblPr>
                <a:effectLst/>
              </a:tblPr>
              <a:tblGrid>
                <a:gridCol w="1875947">
                  <a:extLst>
                    <a:ext uri="{9D8B030D-6E8A-4147-A177-3AD203B41FA5}">
                      <a16:colId xmlns:a16="http://schemas.microsoft.com/office/drawing/2014/main" val="20000"/>
                    </a:ext>
                  </a:extLst>
                </a:gridCol>
                <a:gridCol w="4238580">
                  <a:extLst>
                    <a:ext uri="{9D8B030D-6E8A-4147-A177-3AD203B41FA5}">
                      <a16:colId xmlns:a16="http://schemas.microsoft.com/office/drawing/2014/main" val="20001"/>
                    </a:ext>
                  </a:extLst>
                </a:gridCol>
              </a:tblGrid>
              <a:tr h="379565">
                <a:tc gridSpan="2">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硬件参数配置</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h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0"/>
                  </a:ext>
                </a:extLst>
              </a:tr>
              <a:tr h="379565">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FPGA</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安路EG4系列EG4S20BG256</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379565">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LUTs</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19600</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379565">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片内集成SDRAM</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2M x 32bit</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379565">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嵌入式片上RAM</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64 块9Kb(ERAM9K), 16 块32Kb</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r h="379565">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调试下载方式</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板载USB Cable下载器</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5"/>
                  </a:ext>
                </a:extLst>
              </a:tr>
              <a:tr h="749315">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供电方式</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USB口5V供电板载：5V、3.3V、2.5V、1.2V电路系统</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6"/>
                  </a:ext>
                </a:extLst>
              </a:tr>
              <a:tr h="379565">
                <a:tc rowSpan="4">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人机互换信号</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4组输入按键 </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7"/>
                  </a:ext>
                </a:extLst>
              </a:tr>
              <a:tr h="379565">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4组拨码开关</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8"/>
                  </a:ext>
                </a:extLst>
              </a:tr>
              <a:tr h="379565">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1组控制蜂鸣器开关</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9"/>
                  </a:ext>
                </a:extLst>
              </a:tr>
              <a:tr h="379565">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1组切换数码管和双色LED开关</a:t>
                      </a:r>
                      <a:endParaRPr lang="en-US" sz="1100"/>
                    </a:p>
                  </a:txBody>
                  <a:tcPr marL="6473" marR="6473" marT="647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10"/>
                  </a:ext>
                </a:extLst>
              </a:tr>
            </a:tbl>
          </a:graphicData>
        </a:graphic>
      </p:graphicFrame>
      <p:pic>
        <p:nvPicPr>
          <p:cNvPr id="6" name="Picture 6"/>
          <p:cNvPicPr>
            <a:picLocks noChangeAspect="1"/>
          </p:cNvPicPr>
          <p:nvPr/>
        </p:nvPicPr>
        <p:blipFill>
          <a:blip r:embed="rId3"/>
          <a:srcRect/>
          <a:stretch>
            <a:fillRect/>
          </a:stretch>
        </p:blipFill>
        <p:spPr>
          <a:xfrm>
            <a:off x="7158935" y="2373295"/>
            <a:ext cx="4752258" cy="2885299"/>
          </a:xfrm>
          <a:prstGeom prst="rect">
            <a:avLst/>
          </a:prstGeom>
          <a:ln w="12700">
            <a:noFill/>
            <a:prstDash val="soli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HX4S20C开发板</a:t>
            </a:r>
            <a:endParaRPr lang="en-US" sz="1100"/>
          </a:p>
        </p:txBody>
      </p:sp>
      <p:sp>
        <p:nvSpPr>
          <p:cNvPr id="4" name="AutoShape 4"/>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竞赛技术平台</a:t>
            </a:r>
            <a:endParaRPr lang="en-US" sz="1100"/>
          </a:p>
        </p:txBody>
      </p:sp>
      <p:pic>
        <p:nvPicPr>
          <p:cNvPr id="5" name="Picture 5"/>
          <p:cNvPicPr>
            <a:picLocks noChangeAspect="1"/>
          </p:cNvPicPr>
          <p:nvPr/>
        </p:nvPicPr>
        <p:blipFill>
          <a:blip r:embed="rId3"/>
          <a:srcRect/>
          <a:stretch>
            <a:fillRect/>
          </a:stretch>
        </p:blipFill>
        <p:spPr>
          <a:xfrm>
            <a:off x="7158935" y="2373295"/>
            <a:ext cx="4752258" cy="2885299"/>
          </a:xfrm>
          <a:prstGeom prst="rect">
            <a:avLst/>
          </a:prstGeom>
          <a:ln w="12700">
            <a:noFill/>
            <a:prstDash val="solid"/>
          </a:ln>
        </p:spPr>
      </p:pic>
      <p:graphicFrame>
        <p:nvGraphicFramePr>
          <p:cNvPr id="6" name="Table 6"/>
          <p:cNvGraphicFramePr>
            <a:graphicFrameLocks noGrp="1"/>
          </p:cNvGraphicFramePr>
          <p:nvPr/>
        </p:nvGraphicFramePr>
        <p:xfrm>
          <a:off x="680720" y="1804519"/>
          <a:ext cx="6114526" cy="4165404"/>
        </p:xfrm>
        <a:graphic>
          <a:graphicData uri="http://schemas.openxmlformats.org/drawingml/2006/table">
            <a:tbl>
              <a:tblPr>
                <a:effectLst/>
              </a:tblPr>
              <a:tblGrid>
                <a:gridCol w="1875948">
                  <a:extLst>
                    <a:ext uri="{9D8B030D-6E8A-4147-A177-3AD203B41FA5}">
                      <a16:colId xmlns:a16="http://schemas.microsoft.com/office/drawing/2014/main" val="20000"/>
                    </a:ext>
                  </a:extLst>
                </a:gridCol>
                <a:gridCol w="4238578">
                  <a:extLst>
                    <a:ext uri="{9D8B030D-6E8A-4147-A177-3AD203B41FA5}">
                      <a16:colId xmlns:a16="http://schemas.microsoft.com/office/drawing/2014/main" val="20001"/>
                    </a:ext>
                  </a:extLst>
                </a:gridCol>
              </a:tblGrid>
              <a:tr h="347117">
                <a:tc gridSpan="2">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硬件参数配置</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7117">
                <a:tc rowSpan="5">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显示信号</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4组LED发光管</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1组电源显示LED</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1组配置信号显示LED</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8组数码管</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8组双色16个LED</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347117">
                <a:tc rowSpan="3">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通信接口</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USB转UART</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千兆以太网口</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蜂鸣器</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347117">
                <a:tc rowSpan="3">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存储器</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掉电配置Qspi Flash 16MB</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SPI Flash 64MB</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347117">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TF卡槽，可接插TF卡存储器</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80720" y="1804519"/>
          <a:ext cx="6289423" cy="4466538"/>
        </p:xfrm>
        <a:graphic>
          <a:graphicData uri="http://schemas.openxmlformats.org/drawingml/2006/table">
            <a:tbl>
              <a:tblPr>
                <a:effectLst/>
              </a:tblPr>
              <a:tblGrid>
                <a:gridCol w="1875948">
                  <a:extLst>
                    <a:ext uri="{9D8B030D-6E8A-4147-A177-3AD203B41FA5}">
                      <a16:colId xmlns:a16="http://schemas.microsoft.com/office/drawing/2014/main" val="20000"/>
                    </a:ext>
                  </a:extLst>
                </a:gridCol>
                <a:gridCol w="4413475">
                  <a:extLst>
                    <a:ext uri="{9D8B030D-6E8A-4147-A177-3AD203B41FA5}">
                      <a16:colId xmlns:a16="http://schemas.microsoft.com/office/drawing/2014/main" val="20001"/>
                    </a:ext>
                  </a:extLst>
                </a:gridCol>
              </a:tblGrid>
              <a:tr h="586423">
                <a:tc gridSpan="2">
                  <a:txBody>
                    <a:bodyPr/>
                    <a:lstStyle/>
                    <a:p>
                      <a:pPr marL="0" indent="0" algn="ctr">
                        <a:lnSpc>
                          <a:spcPct val="100000"/>
                        </a:lnSpc>
                        <a:defRPr/>
                      </a:pPr>
                      <a:r>
                        <a:rPr lang="en-US" sz="16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硬件参数配置</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86423">
                <a:tc rowSpan="2">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视频处理接口</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双HDMI接口，可作为视频信号输出</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86423">
                <a:tc vMerge="1">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12位VGA接口</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1534423">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用户外扩GPIO</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2组40PinDC3接口(多达72组扩展IO)供用户外扩</a:t>
                      </a:r>
                      <a:endParaRPr lang="en-US" sz="1100"/>
                    </a:p>
                    <a:p>
                      <a:pPr marL="0" indent="0" algn="ctr">
                        <a:lnSpc>
                          <a:spcPct val="100000"/>
                        </a:lnSpc>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可扩展LCD、ADC、DAC、摄像头模块、电机、HDMI输入模块、交通灯、点阵、键盘、语音处理等。</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586423">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时钟源</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50M有源时钟</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586423">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配件</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00000"/>
                        </a:lnSpc>
                        <a:defRPr/>
                      </a:pPr>
                      <a:r>
                        <a:rPr lang="en-US" sz="1400" b="1" i="0" u="none" strike="noStrike">
                          <a:solidFill>
                            <a:srgbClr val="3D4963"/>
                          </a:solidFill>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rPr>
                        <a:t>USB数据线、杜邦线若干个</a:t>
                      </a:r>
                      <a:endParaRPr lang="en-US" sz="1100"/>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4" name="AutoShape 4"/>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HX4S20C开发板</a:t>
            </a:r>
            <a:endParaRPr lang="en-US" sz="1100"/>
          </a:p>
        </p:txBody>
      </p:sp>
      <p:sp>
        <p:nvSpPr>
          <p:cNvPr id="5" name="AutoShape 5"/>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竞赛技术平台</a:t>
            </a:r>
            <a:endParaRPr lang="en-US" sz="1100"/>
          </a:p>
        </p:txBody>
      </p:sp>
      <p:pic>
        <p:nvPicPr>
          <p:cNvPr id="6" name="Picture 6"/>
          <p:cNvPicPr>
            <a:picLocks noChangeAspect="1"/>
          </p:cNvPicPr>
          <p:nvPr/>
        </p:nvPicPr>
        <p:blipFill>
          <a:blip r:embed="rId3"/>
          <a:srcRect/>
          <a:stretch>
            <a:fillRect/>
          </a:stretch>
        </p:blipFill>
        <p:spPr>
          <a:xfrm>
            <a:off x="7158935" y="2373295"/>
            <a:ext cx="4752258" cy="2885299"/>
          </a:xfrm>
          <a:prstGeom prst="rect">
            <a:avLst/>
          </a:prstGeom>
          <a:ln w="12700">
            <a:noFill/>
            <a:prstDash val="soli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1" y="2173400"/>
            <a:ext cx="3918174" cy="3034420"/>
          </a:xfrm>
          <a:prstGeom prst="rect">
            <a:avLst/>
          </a:prstGeom>
          <a:noFill/>
          <a:ln w="12700">
            <a:noFill/>
            <a:prstDash val="solid"/>
          </a:ln>
        </p:spPr>
        <p:txBody>
          <a:bodyPr wrap="square" lIns="91440" tIns="45720" rIns="91440" bIns="45720" rtlCol="0" anchor="t">
            <a:spAutoFit/>
          </a:bodyPr>
          <a:lstStyle/>
          <a:p>
            <a:pPr marL="0" indent="0" algn="just">
              <a:lnSpc>
                <a:spcPct val="150000"/>
              </a:lnSpc>
              <a:spcAft>
                <a:spcPts val="1200"/>
              </a:spcAft>
              <a:defRPr/>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根据上述硬件资源，提供如下技术支持：</a:t>
            </a:r>
            <a:endParaRPr lang="en-US" sz="1100"/>
          </a:p>
          <a:p>
            <a:pPr marL="0" indent="0" algn="just">
              <a:lnSpc>
                <a:spcPct val="150000"/>
              </a:lnSpc>
              <a:spcAft>
                <a:spcPts val="1200"/>
              </a:spcAft>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1）开发板的使用手册；</a:t>
            </a:r>
          </a:p>
          <a:p>
            <a:pPr marL="0" indent="0" algn="just">
              <a:lnSpc>
                <a:spcPct val="150000"/>
              </a:lnSpc>
              <a:spcAft>
                <a:spcPts val="1200"/>
              </a:spcAft>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2）开发板的原理图；</a:t>
            </a:r>
          </a:p>
          <a:p>
            <a:pPr marL="0" indent="0" algn="just">
              <a:lnSpc>
                <a:spcPct val="150000"/>
              </a:lnSpc>
              <a:spcAft>
                <a:spcPts val="1200"/>
              </a:spcAft>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3）开发板的基础实验，包括接口例程；</a:t>
            </a:r>
          </a:p>
          <a:p>
            <a:pPr marL="0" indent="0" algn="just">
              <a:lnSpc>
                <a:spcPct val="150000"/>
              </a:lnSpc>
              <a:spcAft>
                <a:spcPts val="1200"/>
              </a:spcAft>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4）提供相关调试软件；</a:t>
            </a:r>
          </a:p>
          <a:p>
            <a:pPr marL="0" indent="0" algn="just">
              <a:lnSpc>
                <a:spcPct val="150000"/>
              </a:lnSpc>
              <a:spcAft>
                <a:spcPts val="1200"/>
              </a:spcAft>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5）提供参赛样例，并配有样例解析。</a:t>
            </a:r>
          </a:p>
        </p:txBody>
      </p:sp>
      <p:sp>
        <p:nvSpPr>
          <p:cNvPr id="4" name="AutoShape 4"/>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HX4S20C开发板</a:t>
            </a:r>
            <a:endParaRPr lang="en-US" sz="1100"/>
          </a:p>
        </p:txBody>
      </p:sp>
      <p:sp>
        <p:nvSpPr>
          <p:cNvPr id="5" name="AutoShape 5"/>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技术支持</a:t>
            </a:r>
            <a:endParaRPr lang="en-US" sz="1100"/>
          </a:p>
        </p:txBody>
      </p:sp>
      <p:graphicFrame>
        <p:nvGraphicFramePr>
          <p:cNvPr id="6" name="Table 6"/>
          <p:cNvGraphicFramePr>
            <a:graphicFrameLocks noGrp="1"/>
          </p:cNvGraphicFramePr>
          <p:nvPr/>
        </p:nvGraphicFramePr>
        <p:xfrm>
          <a:off x="4464536" y="2302624"/>
          <a:ext cx="7548488" cy="2247770"/>
        </p:xfrm>
        <a:graphic>
          <a:graphicData uri="http://schemas.openxmlformats.org/drawingml/2006/table">
            <a:tbl>
              <a:tblPr>
                <a:effectLst/>
              </a:tblPr>
              <a:tblGrid>
                <a:gridCol w="1557020">
                  <a:extLst>
                    <a:ext uri="{9D8B030D-6E8A-4147-A177-3AD203B41FA5}">
                      <a16:colId xmlns:a16="http://schemas.microsoft.com/office/drawing/2014/main" val="20000"/>
                    </a:ext>
                  </a:extLst>
                </a:gridCol>
                <a:gridCol w="5991468">
                  <a:extLst>
                    <a:ext uri="{9D8B030D-6E8A-4147-A177-3AD203B41FA5}">
                      <a16:colId xmlns:a16="http://schemas.microsoft.com/office/drawing/2014/main" val="20001"/>
                    </a:ext>
                  </a:extLst>
                </a:gridCol>
              </a:tblGrid>
              <a:tr h="498072">
                <a:tc>
                  <a:txBody>
                    <a:bodyPr/>
                    <a:lstStyle/>
                    <a:p>
                      <a:pPr marL="0" indent="0" algn="l">
                        <a:lnSpc>
                          <a:spcPct val="100000"/>
                        </a:lnSpc>
                        <a:defRPr/>
                      </a:pPr>
                      <a:r>
                        <a:rPr lang="en-US" sz="20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例程路径</a:t>
                      </a:r>
                      <a:endParaRPr lang="en-US" sz="1100"/>
                    </a:p>
                    <a:p>
                      <a:pPr marL="0" indent="0" algn="l">
                        <a:lnSpc>
                          <a:spcPct val="100000"/>
                        </a:lnSpc>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lab_ex_2026_nosoft</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20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例程描述</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681925">
                <a:tc>
                  <a:txBody>
                    <a:bodyPr/>
                    <a:lstStyle/>
                    <a:p>
                      <a:pPr marL="0" indent="0" algn="l">
                        <a:lnSpc>
                          <a:spcPct val="100000"/>
                        </a:lnSpc>
                        <a:defRPr/>
                      </a:pPr>
                      <a:r>
                        <a:rPr lang="en-US" sz="1800" b="1"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lab_ex_4</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800" b="1"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读取TF卡中BMP图片，写入SDRAM后通过HDMI切换显示。</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681925">
                <a:tc>
                  <a:txBody>
                    <a:bodyPr/>
                    <a:lstStyle/>
                    <a:p>
                      <a:pPr marL="0" indent="0" algn="l">
                        <a:lnSpc>
                          <a:spcPct val="100000"/>
                        </a:lnSpc>
                        <a:defRPr/>
                      </a:pPr>
                      <a:r>
                        <a:rPr lang="en-US" sz="1800" b="1"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lab_ex_5</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800" b="1"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在例程4的视频显示基础上，加入HDMI音频测试音输出。</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80480" y="2577313"/>
            <a:ext cx="2339102"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spc="600">
                <a:solidFill>
                  <a:srgbClr val="132141"/>
                </a:solidFill>
                <a:latin typeface="思源黑体 CN Heavy"/>
                <a:ea typeface="思源黑体 CN Heavy"/>
                <a:cs typeface="思源黑体 CN Heavy"/>
                <a:sym typeface="思源黑体 CN Heavy"/>
              </a:rPr>
              <a:t>赛题解析</a:t>
            </a:r>
            <a:endParaRPr lang="en-US" sz="1100"/>
          </a:p>
        </p:txBody>
      </p:sp>
      <p:sp>
        <p:nvSpPr>
          <p:cNvPr id="3" name="AutoShape 3"/>
          <p:cNvSpPr/>
          <p:nvPr/>
        </p:nvSpPr>
        <p:spPr>
          <a:xfrm>
            <a:off x="971772" y="1731281"/>
            <a:ext cx="1869423"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a:solidFill>
                  <a:srgbClr val="CD1220"/>
                </a:solidFill>
                <a:latin typeface="思源黑体 CN Heavy"/>
                <a:ea typeface="思源黑体 CN Heavy"/>
                <a:cs typeface="思源黑体 CN Heavy"/>
                <a:sym typeface="思源黑体 CN Heavy"/>
              </a:rPr>
              <a:t>Part 03</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0" y="2173400"/>
            <a:ext cx="9799021" cy="4049955"/>
          </a:xfrm>
          <a:prstGeom prst="rect">
            <a:avLst/>
          </a:prstGeom>
          <a:noFill/>
          <a:ln w="12700">
            <a:noFill/>
            <a:prstDash val="solid"/>
          </a:ln>
        </p:spPr>
        <p:txBody>
          <a:bodyPr wrap="square" lIns="91440" tIns="45720" rIns="91440" bIns="45720" rtlCol="0" anchor="t">
            <a:spAutoFit/>
          </a:bodyPr>
          <a:lstStyle/>
          <a:p>
            <a:pPr marL="0" indent="457200" algn="just">
              <a:lnSpc>
                <a:spcPct val="150000"/>
              </a:lnSpc>
              <a:spcAft>
                <a:spcPts val="1200"/>
              </a:spcAft>
              <a:defRPr/>
            </a:pP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本次比赛选用的开发板功能丰富且成本优化，具备HDMI显示、SDRAM缓存、存储介质读取、音频输出以及多种外设扩展能力。参赛者将有机会围绕图像、视频、音频和交互信息，设计从素材读取、数据解析、帧缓存管理到HDMI音视频输出的完整软硬件架构，实现稳定、连续、低延迟的多媒体信息展示功能。</a:t>
            </a:r>
            <a:endParaRPr lang="en-US" sz="1100" dirty="0"/>
          </a:p>
          <a:p>
            <a:pPr marL="0" indent="457200" algn="just">
              <a:lnSpc>
                <a:spcPct val="150000"/>
              </a:lnSpc>
              <a:spcAft>
                <a:spcPts val="1200"/>
              </a:spcAft>
            </a:pP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系统支持针对音视频融合展示场景进行开发，包括图像增强、边缘检测、视频缩放与拼接、图文叠加、图形渲染、音频增强、频谱显示、音画同步和多屏联动等功能设计，适合不同基础的同学选择合适切入点。基础较弱的同学可以从本地图片读取、BMP解析和HDMI显示入手，具备一定经验的同学可以进一步扩展音视频联动、交互控制和多源信息融合等综合应用。</a:t>
            </a:r>
          </a:p>
          <a:p>
            <a:pPr marL="0" indent="457200" algn="just">
              <a:lnSpc>
                <a:spcPct val="150000"/>
              </a:lnSpc>
              <a:spcAft>
                <a:spcPts val="1200"/>
              </a:spcAft>
            </a:pPr>
            <a:r>
              <a:rPr lang="en-US" sz="1600" b="0" i="0" u="none" strike="noStrike"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开发板配备了2组2x20</a:t>
            </a: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en-US" sz="1600" b="0" i="0" u="none" strike="noStrike"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DC3接口和多达72组扩展IO，便于外接多种模块，如LCD显示屏、ADC</a:t>
            </a: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/DAC转换器、摄像头、电机、HDMI输入模块、交通灯、点阵屏、键盘、语音处理模块等，充分满足拓展功能或自制PCB的需求，满足高水平同学完成更复杂的任务挑战的需求。</a:t>
            </a:r>
          </a:p>
        </p:txBody>
      </p:sp>
      <p:sp>
        <p:nvSpPr>
          <p:cNvPr id="4" name="AutoShape 4"/>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选题优势</a:t>
            </a:r>
            <a:endParaRPr lang="en-US" sz="1100"/>
          </a:p>
        </p:txBody>
      </p:sp>
      <p:sp>
        <p:nvSpPr>
          <p:cNvPr id="5" name="AutoShape 5"/>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赛题解析</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96490" y="2250344"/>
            <a:ext cx="9799021" cy="1834092"/>
          </a:xfrm>
          <a:prstGeom prst="rect">
            <a:avLst/>
          </a:prstGeom>
          <a:noFill/>
          <a:ln w="12700">
            <a:noFill/>
            <a:prstDash val="solid"/>
          </a:ln>
        </p:spPr>
        <p:txBody>
          <a:bodyPr wrap="square" lIns="91440" tIns="45720" rIns="91440" bIns="45720" rtlCol="0" anchor="t">
            <a:spAutoFit/>
          </a:bodyPr>
          <a:lstStyle/>
          <a:p>
            <a:pPr marL="0" indent="457200" algn="just">
              <a:lnSpc>
                <a:spcPct val="150000"/>
              </a:lnSpc>
              <a:spcAft>
                <a:spcPts val="1200"/>
              </a:spcAft>
              <a:defRPr/>
            </a:pPr>
            <a:r>
              <a:rPr lang="en-US" sz="1600" b="1"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本赛题为同学们提供了丰富的例程资源，能够有效支撑大家完成赛题的基础要求，确保每位参赛同学在比赛结束时都能呈现出一个相对完整、功能丰富的作品。具体资料可通过相关链接自行下载。</a:t>
            </a:r>
            <a:endParaRPr lang="en-US" sz="1100"/>
          </a:p>
          <a:p>
            <a:pPr marL="0" indent="457200" algn="just">
              <a:lnSpc>
                <a:spcPct val="150000"/>
              </a:lnSpc>
              <a:spcAft>
                <a:spcPts val="1200"/>
              </a:spcAft>
            </a:pPr>
            <a:r>
              <a:rPr lang="en-US" sz="1600" b="1"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初学者易完赛，易获奖。</a:t>
            </a:r>
          </a:p>
          <a:p>
            <a:pPr marL="0" indent="457200" algn="just">
              <a:lnSpc>
                <a:spcPct val="150000"/>
              </a:lnSpc>
              <a:spcAft>
                <a:spcPts val="1200"/>
              </a:spcAft>
            </a:pPr>
            <a:r>
              <a:rPr lang="en-US" sz="1600" b="1"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同时可以部分实现的扩展要求，可以通过同学们的丰富想象，呈现令人惊艳的参赛作品。</a:t>
            </a:r>
          </a:p>
        </p:txBody>
      </p:sp>
      <p:sp>
        <p:nvSpPr>
          <p:cNvPr id="4" name="AutoShape 4"/>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选题优势</a:t>
            </a:r>
            <a:endParaRPr lang="en-US" sz="1100"/>
          </a:p>
        </p:txBody>
      </p:sp>
      <p:sp>
        <p:nvSpPr>
          <p:cNvPr id="5" name="AutoShape 5"/>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赛题解析</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611779"/>
            <a:ext cx="2624436" cy="24622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9448800" y="6492875"/>
            <a:ext cx="2743200" cy="365125"/>
          </a:xfrm>
          <a:prstGeom prst="rect">
            <a:avLst/>
          </a:prstGeom>
          <a:noFill/>
          <a:ln w="12700" cap="flat" cmpd="sng">
            <a:noFill/>
            <a:prstDash val="solid"/>
            <a:round/>
          </a:ln>
        </p:spPr>
        <p:txBody>
          <a:bodyPr vert="horz" wrap="square" lIns="91440" tIns="45720" rIns="91440" bIns="45720" rtlCol="0" anchor="ctr" anchorCtr="0"/>
          <a:lstStyle/>
          <a:p>
            <a:pPr algn="r">
              <a:defRPr/>
            </a:pPr>
            <a:endParaRPr/>
          </a:p>
        </p:txBody>
      </p:sp>
      <p:sp>
        <p:nvSpPr>
          <p:cNvPr id="7" name="AutoShape 7"/>
          <p:cNvSpPr/>
          <p:nvPr/>
        </p:nvSpPr>
        <p:spPr>
          <a:xfrm>
            <a:off x="2198445" y="5271035"/>
            <a:ext cx="7795110" cy="1198880"/>
          </a:xfrm>
          <a:prstGeom prst="rect">
            <a:avLst/>
          </a:prstGeom>
          <a:noFill/>
          <a:ln w="12700">
            <a:noFill/>
            <a:prstDash val="solid"/>
          </a:ln>
        </p:spPr>
        <p:txBody>
          <a:bodyPr wrap="square" lIns="91440" tIns="45720" rIns="91440" bIns="45720" rtlCol="0" anchor="t">
            <a:spAutoFit/>
          </a:bodyPr>
          <a:lstStyle/>
          <a:p>
            <a:pPr marL="0" indent="457200" algn="l">
              <a:lnSpc>
                <a:spcPct val="150000"/>
              </a:lnSpc>
              <a:defRPr/>
            </a:pPr>
            <a:r>
              <a:rPr lang="en-US" sz="1600" b="0" i="0" u="none" strike="noStrike" dirty="0">
                <a:solidFill>
                  <a:srgbClr val="000000"/>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FPGA 通过 SPI 接口读取 TF 卡中的 BMP 图片，解析后经 FIFO 写入 SDRAM 帧缓存，再由 HDMI 显示模块按视频时序读取并输出至显示器，实现图片读取、缓存、切换与 HDMI 显示。</a:t>
            </a:r>
            <a:endParaRPr lang="en-US" sz="1100" dirty="0"/>
          </a:p>
        </p:txBody>
      </p:sp>
      <p:sp>
        <p:nvSpPr>
          <p:cNvPr id="8" name="AutoShape 8"/>
          <p:cNvSpPr/>
          <p:nvPr/>
        </p:nvSpPr>
        <p:spPr>
          <a:xfrm>
            <a:off x="680719" y="1049006"/>
            <a:ext cx="10404224" cy="46166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zh-CN" altLang="en-US"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基础要求1、2一一</a:t>
            </a:r>
            <a:r>
              <a:rPr lang="en-US" altLang="zh-CN"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TF </a:t>
            </a:r>
            <a:r>
              <a:rPr lang="zh-CN" altLang="en-US"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卡</a:t>
            </a:r>
            <a:r>
              <a:rPr lang="en-US" altLang="zh-CN"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BMP </a:t>
            </a:r>
            <a:r>
              <a:rPr lang="zh-CN" altLang="en-US"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图片读取、</a:t>
            </a:r>
            <a:r>
              <a:rPr lang="en-US" altLang="zh-CN"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 </a:t>
            </a:r>
            <a:r>
              <a:rPr lang="zh-CN" altLang="en-US" sz="2400" dirty="0">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显示与图片切换轮播</a:t>
            </a:r>
          </a:p>
        </p:txBody>
      </p:sp>
      <p:sp>
        <p:nvSpPr>
          <p:cNvPr id="9" name="AutoShape 9"/>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赛题解析</a:t>
            </a:r>
            <a:endParaRPr lang="en-US" sz="1100"/>
          </a:p>
        </p:txBody>
      </p:sp>
      <p:sp>
        <p:nvSpPr>
          <p:cNvPr id="10" name="AutoShape 10"/>
          <p:cNvSpPr/>
          <p:nvPr/>
        </p:nvSpPr>
        <p:spPr>
          <a:xfrm>
            <a:off x="1172550" y="4481010"/>
            <a:ext cx="3193710" cy="276999"/>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1200" b="0" i="0" u="none" strike="noStrike">
                <a:solidFill>
                  <a:srgbClr val="767171"/>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基础要求1、2实现思路示意图</a:t>
            </a:r>
            <a:endParaRPr lang="en-US" sz="1100"/>
          </a:p>
        </p:txBody>
      </p:sp>
      <p:sp>
        <p:nvSpPr>
          <p:cNvPr id="11" name="AutoShape 11"/>
          <p:cNvSpPr/>
          <p:nvPr/>
        </p:nvSpPr>
        <p:spPr>
          <a:xfrm>
            <a:off x="6849591" y="4566667"/>
            <a:ext cx="3120230" cy="276999"/>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1200" b="0" i="0" u="none" strike="noStrike">
                <a:solidFill>
                  <a:srgbClr val="767171"/>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基础要求1、2实现思路系统框图</a:t>
            </a:r>
            <a:endParaRPr lang="en-US" sz="1100"/>
          </a:p>
        </p:txBody>
      </p:sp>
      <p:pic>
        <p:nvPicPr>
          <p:cNvPr id="12" name="Picture 12"/>
          <p:cNvPicPr>
            <a:picLocks noChangeAspect="1"/>
          </p:cNvPicPr>
          <p:nvPr/>
        </p:nvPicPr>
        <p:blipFill>
          <a:blip r:embed="rId5"/>
          <a:srcRect/>
          <a:stretch>
            <a:fillRect/>
          </a:stretch>
        </p:blipFill>
        <p:spPr>
          <a:xfrm>
            <a:off x="644081" y="1852110"/>
            <a:ext cx="5238750" cy="2628900"/>
          </a:xfrm>
          <a:prstGeom prst="rect">
            <a:avLst/>
          </a:prstGeom>
          <a:noFill/>
          <a:ln w="25400" cap="flat" cmpd="sng">
            <a:noFill/>
            <a:prstDash val="solid"/>
            <a:round/>
          </a:ln>
        </p:spPr>
      </p:pic>
      <p:pic>
        <p:nvPicPr>
          <p:cNvPr id="13" name="Picture 13"/>
          <p:cNvPicPr>
            <a:picLocks noChangeAspect="1"/>
          </p:cNvPicPr>
          <p:nvPr/>
        </p:nvPicPr>
        <p:blipFill>
          <a:blip r:embed="rId6"/>
          <a:srcRect/>
          <a:stretch>
            <a:fillRect/>
          </a:stretch>
        </p:blipFill>
        <p:spPr>
          <a:xfrm>
            <a:off x="5882831" y="1552871"/>
            <a:ext cx="5348761" cy="3013796"/>
          </a:xfrm>
          <a:prstGeom prst="rect">
            <a:avLst/>
          </a:prstGeom>
          <a:noFill/>
          <a:ln w="25400" cap="flat" cmpd="sng">
            <a:noFill/>
            <a:prstDash val="solid"/>
            <a:rou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611779"/>
            <a:ext cx="2624436" cy="24622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9448800" y="6492875"/>
            <a:ext cx="2743200" cy="365125"/>
          </a:xfrm>
          <a:prstGeom prst="rect">
            <a:avLst/>
          </a:prstGeom>
          <a:noFill/>
          <a:ln w="12700" cap="flat" cmpd="sng">
            <a:noFill/>
            <a:prstDash val="solid"/>
            <a:round/>
          </a:ln>
        </p:spPr>
        <p:txBody>
          <a:bodyPr vert="horz" wrap="square" lIns="91440" tIns="45720" rIns="91440" bIns="45720" rtlCol="0" anchor="ctr" anchorCtr="0"/>
          <a:lstStyle/>
          <a:p>
            <a:pPr algn="r">
              <a:defRPr/>
            </a:pPr>
            <a:endParaRPr/>
          </a:p>
        </p:txBody>
      </p:sp>
      <p:sp>
        <p:nvSpPr>
          <p:cNvPr id="7" name="AutoShape 7"/>
          <p:cNvSpPr/>
          <p:nvPr/>
        </p:nvSpPr>
        <p:spPr>
          <a:xfrm>
            <a:off x="1793987" y="5522047"/>
            <a:ext cx="8604026" cy="829945"/>
          </a:xfrm>
          <a:prstGeom prst="rect">
            <a:avLst/>
          </a:prstGeom>
          <a:noFill/>
          <a:ln w="12700">
            <a:noFill/>
            <a:prstDash val="solid"/>
          </a:ln>
        </p:spPr>
        <p:txBody>
          <a:bodyPr wrap="square" lIns="91440" tIns="45720" rIns="91440" bIns="45720" rtlCol="0" anchor="t">
            <a:spAutoFit/>
          </a:bodyPr>
          <a:lstStyle/>
          <a:p>
            <a:pPr marL="0" indent="457200" algn="just">
              <a:lnSpc>
                <a:spcPct val="150000"/>
              </a:lnSpc>
              <a:spcAft>
                <a:spcPts val="1200"/>
              </a:spcAft>
              <a:defRPr/>
            </a:pPr>
            <a:r>
              <a:rPr lang="en-US" sz="1600" b="0" i="0" u="none" strike="noStrike"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FPGA 读取 TF 卡中的 BMP 图片并写入 SDRAM 帧缓存，由 HDMI 模块输出显示；同时生成 I2S 测试音，经音频处理后与视频数据复用，通过 HDMI 接口实现图像显示与音频播放。</a:t>
            </a:r>
            <a:endParaRPr lang="en-US" sz="1100" dirty="0"/>
          </a:p>
        </p:txBody>
      </p:sp>
      <p:sp>
        <p:nvSpPr>
          <p:cNvPr id="8" name="AutoShape 8"/>
          <p:cNvSpPr/>
          <p:nvPr/>
        </p:nvSpPr>
        <p:spPr>
          <a:xfrm>
            <a:off x="680720" y="1049006"/>
            <a:ext cx="10847892" cy="46166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zh-CN" altLang="en-US" sz="24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基础要求3一一</a:t>
            </a:r>
            <a:r>
              <a:rPr lang="en-US" altLang="zh-CN" sz="24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 </a:t>
            </a:r>
            <a:r>
              <a:rPr lang="zh-CN" altLang="en-US" sz="24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音频输出与音视频同步播放</a:t>
            </a:r>
          </a:p>
        </p:txBody>
      </p:sp>
      <p:sp>
        <p:nvSpPr>
          <p:cNvPr id="9" name="AutoShape 9"/>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赛题解析</a:t>
            </a:r>
            <a:endParaRPr lang="en-US" sz="1100"/>
          </a:p>
        </p:txBody>
      </p:sp>
      <p:sp>
        <p:nvSpPr>
          <p:cNvPr id="10" name="AutoShape 10"/>
          <p:cNvSpPr/>
          <p:nvPr/>
        </p:nvSpPr>
        <p:spPr>
          <a:xfrm>
            <a:off x="1731689" y="4976743"/>
            <a:ext cx="2481831" cy="277000"/>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1200" b="0" i="0" u="none" strike="noStrike">
                <a:solidFill>
                  <a:srgbClr val="767171"/>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基础要求3实现思路示意图</a:t>
            </a:r>
            <a:endParaRPr lang="en-US" sz="1100"/>
          </a:p>
        </p:txBody>
      </p:sp>
      <p:sp>
        <p:nvSpPr>
          <p:cNvPr id="11" name="AutoShape 11"/>
          <p:cNvSpPr/>
          <p:nvPr/>
        </p:nvSpPr>
        <p:spPr>
          <a:xfrm>
            <a:off x="7547924" y="4976743"/>
            <a:ext cx="2809270" cy="276999"/>
          </a:xfrm>
          <a:prstGeom prst="rect">
            <a:avLst/>
          </a:prstGeom>
          <a:noFill/>
          <a:ln w="12700" cap="flat" cmpd="sng">
            <a:noFill/>
            <a:prstDash val="solid"/>
            <a:round/>
          </a:ln>
        </p:spPr>
        <p:txBody>
          <a:bodyPr vert="horz" wrap="square" lIns="91440" tIns="45720" rIns="91440" bIns="45720" rtlCol="0" anchor="t" anchorCtr="0"/>
          <a:lstStyle/>
          <a:p>
            <a:pPr marL="0" indent="0" algn="ctr">
              <a:lnSpc>
                <a:spcPct val="100000"/>
              </a:lnSpc>
              <a:defRPr/>
            </a:pPr>
            <a:r>
              <a:rPr lang="en-US" sz="1200" b="0" i="0" u="none" strike="noStrike">
                <a:solidFill>
                  <a:srgbClr val="767171"/>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基础要求3实现思路系统框图</a:t>
            </a:r>
            <a:endParaRPr lang="en-US" sz="1100"/>
          </a:p>
        </p:txBody>
      </p:sp>
      <p:pic>
        <p:nvPicPr>
          <p:cNvPr id="12" name="Picture 12"/>
          <p:cNvPicPr>
            <a:picLocks noChangeAspect="1"/>
          </p:cNvPicPr>
          <p:nvPr/>
        </p:nvPicPr>
        <p:blipFill>
          <a:blip r:embed="rId5"/>
          <a:srcRect/>
          <a:stretch>
            <a:fillRect/>
          </a:stretch>
        </p:blipFill>
        <p:spPr>
          <a:xfrm>
            <a:off x="151413" y="1443482"/>
            <a:ext cx="6014495" cy="3600450"/>
          </a:xfrm>
          <a:prstGeom prst="rect">
            <a:avLst/>
          </a:prstGeom>
          <a:noFill/>
          <a:ln w="25400" cap="flat" cmpd="sng">
            <a:noFill/>
            <a:prstDash val="solid"/>
            <a:round/>
          </a:ln>
        </p:spPr>
      </p:pic>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71870" y="1644399"/>
            <a:ext cx="6120130" cy="32658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611779"/>
            <a:ext cx="2624436" cy="246221"/>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9448800" y="6492875"/>
            <a:ext cx="2743200" cy="365125"/>
          </a:xfrm>
          <a:prstGeom prst="rect">
            <a:avLst/>
          </a:prstGeom>
          <a:noFill/>
          <a:ln w="12700" cap="flat" cmpd="sng">
            <a:noFill/>
            <a:prstDash val="solid"/>
            <a:round/>
          </a:ln>
        </p:spPr>
        <p:txBody>
          <a:bodyPr vert="horz" wrap="square" lIns="91440" tIns="45720" rIns="91440" bIns="45720" rtlCol="0" anchor="ctr" anchorCtr="0"/>
          <a:lstStyle/>
          <a:p>
            <a:pPr algn="r">
              <a:defRPr/>
            </a:pPr>
            <a:endParaRPr/>
          </a:p>
        </p:txBody>
      </p:sp>
      <p:sp>
        <p:nvSpPr>
          <p:cNvPr id="7" name="AutoShape 7"/>
          <p:cNvSpPr/>
          <p:nvPr/>
        </p:nvSpPr>
        <p:spPr>
          <a:xfrm>
            <a:off x="680720" y="1890725"/>
            <a:ext cx="3918174" cy="418320"/>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just">
              <a:lnSpc>
                <a:spcPct val="150000"/>
              </a:lnSpc>
              <a:spcAft>
                <a:spcPts val="1200"/>
              </a:spcAft>
              <a:defRPr/>
            </a:pPr>
            <a:r>
              <a:rPr lang="en-US" sz="1600" b="0" i="0" u="none" strike="noStrike">
                <a:solidFill>
                  <a:srgbClr val="132141"/>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基础要求以及例程中涉及的安路IP核。</a:t>
            </a:r>
            <a:endParaRPr lang="en-US" sz="1100"/>
          </a:p>
        </p:txBody>
      </p:sp>
      <p:sp>
        <p:nvSpPr>
          <p:cNvPr id="8" name="AutoShape 8"/>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涉及IP核、参考设计</a:t>
            </a:r>
            <a:endParaRPr lang="en-US" sz="1100"/>
          </a:p>
        </p:txBody>
      </p:sp>
      <p:sp>
        <p:nvSpPr>
          <p:cNvPr id="9" name="AutoShape 9"/>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赛题解析</a:t>
            </a:r>
            <a:endParaRPr lang="en-US" sz="1100"/>
          </a:p>
        </p:txBody>
      </p:sp>
      <p:graphicFrame>
        <p:nvGraphicFramePr>
          <p:cNvPr id="10" name="Table 10"/>
          <p:cNvGraphicFramePr>
            <a:graphicFrameLocks noGrp="1"/>
          </p:cNvGraphicFramePr>
          <p:nvPr/>
        </p:nvGraphicFramePr>
        <p:xfrm>
          <a:off x="689983" y="2435225"/>
          <a:ext cx="10812034" cy="3219585"/>
        </p:xfrm>
        <a:graphic>
          <a:graphicData uri="http://schemas.openxmlformats.org/drawingml/2006/table">
            <a:tbl>
              <a:tblPr>
                <a:effectLst/>
              </a:tblPr>
              <a:tblGrid>
                <a:gridCol w="5406017">
                  <a:extLst>
                    <a:ext uri="{9D8B030D-6E8A-4147-A177-3AD203B41FA5}">
                      <a16:colId xmlns:a16="http://schemas.microsoft.com/office/drawing/2014/main" val="20000"/>
                    </a:ext>
                  </a:extLst>
                </a:gridCol>
                <a:gridCol w="5406017">
                  <a:extLst>
                    <a:ext uri="{9D8B030D-6E8A-4147-A177-3AD203B41FA5}">
                      <a16:colId xmlns:a16="http://schemas.microsoft.com/office/drawing/2014/main" val="20001"/>
                    </a:ext>
                  </a:extLst>
                </a:gridCol>
              </a:tblGrid>
              <a:tr h="573065">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IP核或相关工程</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参考手册</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838065">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sdram_read_write_with_local_bus_reference_design_V1.1</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APUG010_Local bus总线的SDRAM读写v1.1.pdf</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838065">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high_performance_sdram_read_write_reference_design_v1.2</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APUG011_基于ERAM接口实现的高性能SDRAM读写v1.2.pdf</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85195">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APUG092_HDMI1.4b_Transmitter_V1.0</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APUG092_HDMI1.4b_Transmitter_V1.0.pdf</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485195">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Soft_fifo</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100000"/>
                        </a:lnSpc>
                        <a:defRPr/>
                      </a:pPr>
                      <a:r>
                        <a:rPr lang="en-US" sz="1600" b="0" i="0" u="none" strike="noStrike">
                          <a:solidFill>
                            <a:srgbClr val="3D496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IPUG012_Soft_FIFO用户手册.pdf</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565900"/>
            <a:ext cx="2624436" cy="22860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1092199" y="140708"/>
            <a:ext cx="8598647" cy="523220"/>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en-US" sz="2600" spc="300">
                <a:solidFill>
                  <a:srgbClr val="0D0D0D"/>
                </a:solidFill>
                <a:latin typeface="思源黑体 CN Heavy"/>
                <a:ea typeface="思源黑体 CN Heavy"/>
                <a:cs typeface="思源黑体 CN Heavy"/>
                <a:sym typeface="思源黑体 CN Heavy"/>
              </a:rPr>
              <a:t>选题一：基于安路FPGA的HDMI多媒体展示系统</a:t>
            </a:r>
            <a:endParaRPr lang="en-US" sz="1100"/>
          </a:p>
        </p:txBody>
      </p:sp>
      <p:sp>
        <p:nvSpPr>
          <p:cNvPr id="7" name="AutoShape 7"/>
          <p:cNvSpPr/>
          <p:nvPr/>
        </p:nvSpPr>
        <p:spPr>
          <a:xfrm>
            <a:off x="680720" y="1049020"/>
            <a:ext cx="10847892" cy="46166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zh-CN" altLang="en-US" sz="24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扩展要求1、2一一图层叠加与字幕效果、图片切换与转场特效</a:t>
            </a:r>
          </a:p>
        </p:txBody>
      </p:sp>
      <p:sp>
        <p:nvSpPr>
          <p:cNvPr id="8" name="AutoShape 8"/>
          <p:cNvSpPr/>
          <p:nvPr/>
        </p:nvSpPr>
        <p:spPr>
          <a:xfrm>
            <a:off x="317500" y="1651000"/>
            <a:ext cx="5397500" cy="3492500"/>
          </a:xfrm>
          <a:prstGeom prst="roundRect">
            <a:avLst>
              <a:gd name="adj" fmla="val 0"/>
            </a:avLst>
          </a:prstGeom>
          <a:solidFill>
            <a:srgbClr val="E1EBFA">
              <a:alpha val="100000"/>
            </a:srgbClr>
          </a:solidFill>
          <a:ln w="12700" cap="flat" cmpd="sng">
            <a:solidFill>
              <a:srgbClr val="96AAC8">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19100" y="1689100"/>
            <a:ext cx="1270000" cy="177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3C5078"/>
                </a:solidFill>
                <a:latin typeface="Noto Sans SC" panose="020B0200000000000000" charset="-122"/>
                <a:ea typeface="Noto Sans SC" panose="020B0200000000000000" charset="-122"/>
                <a:cs typeface="Noto Sans SC" panose="020B0200000000000000" charset="-122"/>
                <a:sym typeface="Noto Sans SC" panose="020B0200000000000000" charset="-122"/>
              </a:rPr>
              <a:t>FPGA Board</a:t>
            </a:r>
            <a:endParaRPr lang="en-US" sz="1100"/>
          </a:p>
        </p:txBody>
      </p:sp>
      <p:sp>
        <p:nvSpPr>
          <p:cNvPr id="10" name="AutoShape 10"/>
          <p:cNvSpPr/>
          <p:nvPr/>
        </p:nvSpPr>
        <p:spPr>
          <a:xfrm>
            <a:off x="508000" y="2159000"/>
            <a:ext cx="1079500" cy="533400"/>
          </a:xfrm>
          <a:prstGeom prst="roundRect">
            <a:avLst>
              <a:gd name="adj" fmla="val 0"/>
            </a:avLst>
          </a:prstGeom>
          <a:solidFill>
            <a:srgbClr val="FFC896">
              <a:alpha val="100000"/>
            </a:srgbClr>
          </a:solidFill>
          <a:ln w="12700" cap="flat" cmpd="sng">
            <a:solidFill>
              <a:srgbClr val="B4783C">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33400" y="2159000"/>
            <a:ext cx="1028700" cy="533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800" b="0" i="0" u="none" strike="noStrike">
                <a:solidFill>
                  <a:srgbClr val="503214"/>
                </a:solidFill>
                <a:latin typeface="Noto Sans SC" panose="020B0200000000000000" charset="-122"/>
                <a:ea typeface="Noto Sans SC" panose="020B0200000000000000" charset="-122"/>
                <a:cs typeface="Noto Sans SC" panose="020B0200000000000000" charset="-122"/>
                <a:sym typeface="Noto Sans SC" panose="020B0200000000000000" charset="-122"/>
              </a:rPr>
              <a:t>SD/TF Interface</a:t>
            </a:r>
            <a:endParaRPr lang="en-US" sz="1100"/>
          </a:p>
        </p:txBody>
      </p:sp>
      <p:sp>
        <p:nvSpPr>
          <p:cNvPr id="12" name="AutoShape 12"/>
          <p:cNvSpPr/>
          <p:nvPr/>
        </p:nvSpPr>
        <p:spPr>
          <a:xfrm>
            <a:off x="2032000" y="2921000"/>
            <a:ext cx="1905000" cy="1206500"/>
          </a:xfrm>
          <a:prstGeom prst="roundRect">
            <a:avLst>
              <a:gd name="adj" fmla="val 0"/>
            </a:avLst>
          </a:prstGeom>
          <a:solidFill>
            <a:srgbClr val="C8E6C8">
              <a:alpha val="100000"/>
            </a:srgbClr>
          </a:solidFill>
          <a:ln w="25400" cap="flat" cmpd="sng">
            <a:solidFill>
              <a:srgbClr val="508250">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057400" y="2971800"/>
            <a:ext cx="1854200" cy="228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000" b="0" i="0" u="none" strike="noStrike">
                <a:solidFill>
                  <a:srgbClr val="285028"/>
                </a:solidFill>
                <a:latin typeface="Noto Sans SC" panose="020B0200000000000000" charset="-122"/>
                <a:ea typeface="Noto Sans SC" panose="020B0200000000000000" charset="-122"/>
                <a:cs typeface="Noto Sans SC" panose="020B0200000000000000" charset="-122"/>
                <a:sym typeface="Noto Sans SC" panose="020B0200000000000000" charset="-122"/>
              </a:rPr>
              <a:t>FPGA</a:t>
            </a:r>
            <a:endParaRPr lang="en-US" sz="1100"/>
          </a:p>
        </p:txBody>
      </p:sp>
      <p:sp>
        <p:nvSpPr>
          <p:cNvPr id="14" name="AutoShape 14"/>
          <p:cNvSpPr/>
          <p:nvPr/>
        </p:nvSpPr>
        <p:spPr>
          <a:xfrm>
            <a:off x="2349500" y="3302000"/>
            <a:ext cx="1270000" cy="482600"/>
          </a:xfrm>
          <a:prstGeom prst="roundRect">
            <a:avLst>
              <a:gd name="adj" fmla="val 0"/>
            </a:avLst>
          </a:prstGeom>
          <a:solidFill>
            <a:srgbClr val="DCF0DC">
              <a:alpha val="100000"/>
            </a:srgbClr>
          </a:solidFill>
          <a:ln w="12700" cap="flat" cmpd="sng">
            <a:solidFill>
              <a:srgbClr val="649664">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374900" y="3302000"/>
            <a:ext cx="1219200" cy="482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285028"/>
                </a:solidFill>
                <a:latin typeface="Noto Sans SC" panose="020B0200000000000000" charset="-122"/>
                <a:ea typeface="Noto Sans SC" panose="020B0200000000000000" charset="-122"/>
                <a:cs typeface="Noto Sans SC" panose="020B0200000000000000" charset="-122"/>
                <a:sym typeface="Noto Sans SC" panose="020B0200000000000000" charset="-122"/>
              </a:rPr>
              <a:t>SDRAM</a:t>
            </a:r>
            <a:endParaRPr lang="en-US" sz="1100"/>
          </a:p>
        </p:txBody>
      </p:sp>
      <p:sp>
        <p:nvSpPr>
          <p:cNvPr id="16" name="AutoShape 16"/>
          <p:cNvSpPr/>
          <p:nvPr/>
        </p:nvSpPr>
        <p:spPr>
          <a:xfrm>
            <a:off x="4254500" y="2159000"/>
            <a:ext cx="1079500" cy="533400"/>
          </a:xfrm>
          <a:prstGeom prst="roundRect">
            <a:avLst>
              <a:gd name="adj" fmla="val 0"/>
            </a:avLst>
          </a:prstGeom>
          <a:solidFill>
            <a:srgbClr val="FFC896">
              <a:alpha val="100000"/>
            </a:srgbClr>
          </a:solidFill>
          <a:ln w="12700" cap="flat" cmpd="sng">
            <a:solidFill>
              <a:srgbClr val="B4783C">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279900" y="2159000"/>
            <a:ext cx="1028700" cy="533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800" b="0" i="0" u="none" strike="noStrike">
                <a:solidFill>
                  <a:srgbClr val="503214"/>
                </a:solidFill>
                <a:latin typeface="Noto Sans SC" panose="020B0200000000000000" charset="-122"/>
                <a:ea typeface="Noto Sans SC" panose="020B0200000000000000" charset="-122"/>
                <a:cs typeface="Noto Sans SC" panose="020B0200000000000000" charset="-122"/>
                <a:sym typeface="Noto Sans SC" panose="020B0200000000000000" charset="-122"/>
              </a:rPr>
              <a:t>HDMI Interface</a:t>
            </a:r>
            <a:endParaRPr lang="en-US" sz="1100"/>
          </a:p>
        </p:txBody>
      </p:sp>
      <p:sp>
        <p:nvSpPr>
          <p:cNvPr id="18" name="AutoShape 18"/>
          <p:cNvSpPr/>
          <p:nvPr/>
        </p:nvSpPr>
        <p:spPr>
          <a:xfrm>
            <a:off x="4953000" y="2921000"/>
            <a:ext cx="533400" cy="406400"/>
          </a:xfrm>
          <a:prstGeom prst="roundRect">
            <a:avLst>
              <a:gd name="adj" fmla="val 0"/>
            </a:avLst>
          </a:prstGeom>
          <a:solidFill>
            <a:srgbClr val="F0F0F0">
              <a:alpha val="100000"/>
            </a:srgbClr>
          </a:solidFill>
          <a:ln w="12700" cap="flat" cmpd="sng">
            <a:solidFill>
              <a:srgbClr val="646464">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4978400" y="2921000"/>
            <a:ext cx="482600" cy="406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显示器</a:t>
            </a:r>
            <a:endParaRPr lang="en-US" sz="1100"/>
          </a:p>
        </p:txBody>
      </p:sp>
      <p:sp>
        <p:nvSpPr>
          <p:cNvPr id="20" name="AutoShape 20"/>
          <p:cNvSpPr/>
          <p:nvPr/>
        </p:nvSpPr>
        <p:spPr>
          <a:xfrm>
            <a:off x="508000" y="3175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08000" y="3187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KEY2</a:t>
            </a:r>
            <a:endParaRPr lang="en-US" sz="1100"/>
          </a:p>
        </p:txBody>
      </p:sp>
      <p:sp>
        <p:nvSpPr>
          <p:cNvPr id="22" name="AutoShape 22"/>
          <p:cNvSpPr/>
          <p:nvPr/>
        </p:nvSpPr>
        <p:spPr>
          <a:xfrm>
            <a:off x="508000" y="36195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508000" y="36322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KEY4</a:t>
            </a:r>
            <a:endParaRPr lang="en-US" sz="1100"/>
          </a:p>
        </p:txBody>
      </p:sp>
      <p:cxnSp>
        <p:nvCxnSpPr>
          <p:cNvPr id="24" name="Connector 24"/>
          <p:cNvCxnSpPr/>
          <p:nvPr/>
        </p:nvCxnSpPr>
        <p:spPr>
          <a:xfrm rot="-137436">
            <a:off x="1587627" y="2419350"/>
            <a:ext cx="317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5" name="Connector 25"/>
          <p:cNvCxnSpPr/>
          <p:nvPr/>
        </p:nvCxnSpPr>
        <p:spPr>
          <a:xfrm rot="5353546">
            <a:off x="1435100" y="2889293"/>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6" name="Connector 26"/>
          <p:cNvCxnSpPr/>
          <p:nvPr/>
        </p:nvCxnSpPr>
        <p:spPr>
          <a:xfrm rot="-342635">
            <a:off x="1905317" y="3359150"/>
            <a:ext cx="1270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27" name="Connector 27"/>
          <p:cNvCxnSpPr/>
          <p:nvPr/>
        </p:nvCxnSpPr>
        <p:spPr>
          <a:xfrm rot="-228844">
            <a:off x="3937211" y="3359150"/>
            <a:ext cx="190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8" name="Connector 28"/>
          <p:cNvCxnSpPr/>
          <p:nvPr/>
        </p:nvCxnSpPr>
        <p:spPr>
          <a:xfrm rot="-5446453">
            <a:off x="3657600" y="2889207"/>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9" name="Connector 29"/>
          <p:cNvCxnSpPr/>
          <p:nvPr/>
        </p:nvCxnSpPr>
        <p:spPr>
          <a:xfrm rot="-342635">
            <a:off x="4127817" y="2419350"/>
            <a:ext cx="1270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30" name="Connector 30"/>
          <p:cNvCxnSpPr/>
          <p:nvPr/>
        </p:nvCxnSpPr>
        <p:spPr>
          <a:xfrm rot="5209210">
            <a:off x="4673600" y="2800526"/>
            <a:ext cx="2286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31" name="Connector 31"/>
          <p:cNvCxnSpPr/>
          <p:nvPr/>
        </p:nvCxnSpPr>
        <p:spPr>
          <a:xfrm rot="-263922">
            <a:off x="4788144" y="2914650"/>
            <a:ext cx="165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32" name="Connector 32"/>
          <p:cNvCxnSpPr/>
          <p:nvPr/>
        </p:nvCxnSpPr>
        <p:spPr>
          <a:xfrm rot="-46453">
            <a:off x="1092243" y="3308350"/>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33" name="Connector 33"/>
          <p:cNvCxnSpPr/>
          <p:nvPr/>
        </p:nvCxnSpPr>
        <p:spPr>
          <a:xfrm rot="-46453">
            <a:off x="1092243" y="3752850"/>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sp>
        <p:nvSpPr>
          <p:cNvPr id="34" name="AutoShape 34"/>
          <p:cNvSpPr/>
          <p:nvPr/>
        </p:nvSpPr>
        <p:spPr>
          <a:xfrm>
            <a:off x="2032000" y="4254500"/>
            <a:ext cx="1905000" cy="3810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2044700" y="4254500"/>
            <a:ext cx="1879600" cy="3810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OSD叠加引擎(Alpha混合)</a:t>
            </a:r>
            <a:endParaRPr lang="en-US" sz="1100"/>
          </a:p>
        </p:txBody>
      </p:sp>
      <p:sp>
        <p:nvSpPr>
          <p:cNvPr id="36" name="AutoShape 36"/>
          <p:cNvSpPr/>
          <p:nvPr/>
        </p:nvSpPr>
        <p:spPr>
          <a:xfrm>
            <a:off x="2032000" y="4699000"/>
            <a:ext cx="1905000" cy="2794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2044700" y="4699000"/>
            <a:ext cx="1879600" cy="2794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转场特效引擎(淡入淡出/滑动)</a:t>
            </a:r>
            <a:endParaRPr lang="en-US" sz="1100"/>
          </a:p>
        </p:txBody>
      </p:sp>
      <p:sp>
        <p:nvSpPr>
          <p:cNvPr id="38" name="AutoShape 38"/>
          <p:cNvSpPr/>
          <p:nvPr/>
        </p:nvSpPr>
        <p:spPr>
          <a:xfrm>
            <a:off x="5905500" y="1524000"/>
            <a:ext cx="6159500" cy="36830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39" name="AutoShape 39"/>
          <p:cNvSpPr/>
          <p:nvPr/>
        </p:nvSpPr>
        <p:spPr>
          <a:xfrm>
            <a:off x="5956300" y="1485900"/>
            <a:ext cx="901700" cy="177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endParaRPr lang="en-US" sz="1100"/>
          </a:p>
        </p:txBody>
      </p:sp>
      <p:sp>
        <p:nvSpPr>
          <p:cNvPr id="40" name="AutoShape 40"/>
          <p:cNvSpPr/>
          <p:nvPr/>
        </p:nvSpPr>
        <p:spPr>
          <a:xfrm>
            <a:off x="6032500" y="1676400"/>
            <a:ext cx="2540000" cy="7874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1" name="AutoShape 41"/>
          <p:cNvSpPr/>
          <p:nvPr/>
        </p:nvSpPr>
        <p:spPr>
          <a:xfrm>
            <a:off x="7620000" y="16383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50MHz</a:t>
            </a:r>
            <a:endParaRPr lang="en-US" sz="1100"/>
          </a:p>
        </p:txBody>
      </p:sp>
      <p:sp>
        <p:nvSpPr>
          <p:cNvPr id="42" name="AutoShape 42"/>
          <p:cNvSpPr/>
          <p:nvPr/>
        </p:nvSpPr>
        <p:spPr>
          <a:xfrm>
            <a:off x="6197600" y="1879600"/>
            <a:ext cx="7620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6210300" y="1879600"/>
            <a:ext cx="7366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数码管</a:t>
            </a:r>
            <a:endParaRPr lang="en-US" sz="1100"/>
          </a:p>
        </p:txBody>
      </p:sp>
      <p:sp>
        <p:nvSpPr>
          <p:cNvPr id="44" name="AutoShape 44"/>
          <p:cNvSpPr/>
          <p:nvPr/>
        </p:nvSpPr>
        <p:spPr>
          <a:xfrm>
            <a:off x="6032500" y="2590800"/>
            <a:ext cx="2540000" cy="11176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5" name="AutoShape 45"/>
          <p:cNvSpPr/>
          <p:nvPr/>
        </p:nvSpPr>
        <p:spPr>
          <a:xfrm>
            <a:off x="7620000" y="25527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100MHz</a:t>
            </a:r>
            <a:endParaRPr lang="en-US" sz="1100"/>
          </a:p>
        </p:txBody>
      </p:sp>
      <p:sp>
        <p:nvSpPr>
          <p:cNvPr id="46" name="AutoShape 46"/>
          <p:cNvSpPr/>
          <p:nvPr/>
        </p:nvSpPr>
        <p:spPr>
          <a:xfrm>
            <a:off x="6197600" y="2794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6197600" y="2806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KEY2</a:t>
            </a:r>
            <a:endParaRPr lang="en-US" sz="1100"/>
          </a:p>
        </p:txBody>
      </p:sp>
      <p:sp>
        <p:nvSpPr>
          <p:cNvPr id="48" name="AutoShape 48"/>
          <p:cNvSpPr/>
          <p:nvPr/>
        </p:nvSpPr>
        <p:spPr>
          <a:xfrm>
            <a:off x="6197600" y="3175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6197600" y="3187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KEY4</a:t>
            </a:r>
            <a:endParaRPr lang="en-US" sz="1100"/>
          </a:p>
        </p:txBody>
      </p:sp>
      <p:sp>
        <p:nvSpPr>
          <p:cNvPr id="50" name="AutoShape 50"/>
          <p:cNvSpPr/>
          <p:nvPr/>
        </p:nvSpPr>
        <p:spPr>
          <a:xfrm>
            <a:off x="6959600" y="2946400"/>
            <a:ext cx="609600" cy="3556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6972300" y="2946400"/>
            <a:ext cx="584200" cy="3556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消抖</a:t>
            </a:r>
            <a:endParaRPr lang="en-US" sz="1100"/>
          </a:p>
        </p:txBody>
      </p:sp>
      <p:sp>
        <p:nvSpPr>
          <p:cNvPr id="52" name="AutoShape 52"/>
          <p:cNvSpPr/>
          <p:nvPr/>
        </p:nvSpPr>
        <p:spPr>
          <a:xfrm>
            <a:off x="7747000" y="2946400"/>
            <a:ext cx="698500" cy="3556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3" name="AutoShape 53"/>
          <p:cNvSpPr/>
          <p:nvPr/>
        </p:nvSpPr>
        <p:spPr>
          <a:xfrm>
            <a:off x="7759700" y="2946400"/>
            <a:ext cx="673100" cy="3556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SD卡</a:t>
            </a:r>
            <a:endParaRPr lang="en-US" sz="1100"/>
          </a:p>
        </p:txBody>
      </p:sp>
      <p:cxnSp>
        <p:nvCxnSpPr>
          <p:cNvPr id="54" name="Connector 54"/>
          <p:cNvCxnSpPr/>
          <p:nvPr/>
        </p:nvCxnSpPr>
        <p:spPr>
          <a:xfrm rot="1757807">
            <a:off x="6765175" y="2984603"/>
            <a:ext cx="21137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55" name="Connector 55"/>
          <p:cNvCxnSpPr/>
          <p:nvPr/>
        </p:nvCxnSpPr>
        <p:spPr>
          <a:xfrm rot="-2482314">
            <a:off x="6757782" y="3238390"/>
            <a:ext cx="226117"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56" name="Connector 56"/>
          <p:cNvCxnSpPr/>
          <p:nvPr/>
        </p:nvCxnSpPr>
        <p:spPr>
          <a:xfrm rot="-245137">
            <a:off x="7569426" y="3117850"/>
            <a:ext cx="177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sp>
        <p:nvSpPr>
          <p:cNvPr id="57" name="AutoShape 57"/>
          <p:cNvSpPr/>
          <p:nvPr/>
        </p:nvSpPr>
        <p:spPr>
          <a:xfrm>
            <a:off x="8763000" y="1676400"/>
            <a:ext cx="3200400" cy="34290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58" name="AutoShape 58"/>
          <p:cNvSpPr/>
          <p:nvPr/>
        </p:nvSpPr>
        <p:spPr>
          <a:xfrm>
            <a:off x="11010900" y="16383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125MHz</a:t>
            </a:r>
            <a:endParaRPr lang="en-US" sz="1100"/>
          </a:p>
        </p:txBody>
      </p:sp>
      <p:sp>
        <p:nvSpPr>
          <p:cNvPr id="59" name="AutoShape 59"/>
          <p:cNvSpPr/>
          <p:nvPr/>
        </p:nvSpPr>
        <p:spPr>
          <a:xfrm>
            <a:off x="8890000" y="2133600"/>
            <a:ext cx="7112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60" name="AutoShape 60"/>
          <p:cNvSpPr/>
          <p:nvPr/>
        </p:nvSpPr>
        <p:spPr>
          <a:xfrm>
            <a:off x="8902700" y="2133600"/>
            <a:ext cx="6858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写FIFO</a:t>
            </a:r>
            <a:endParaRPr lang="en-US" sz="1100"/>
          </a:p>
        </p:txBody>
      </p:sp>
      <p:sp>
        <p:nvSpPr>
          <p:cNvPr id="61" name="AutoShape 61"/>
          <p:cNvSpPr/>
          <p:nvPr/>
        </p:nvSpPr>
        <p:spPr>
          <a:xfrm>
            <a:off x="9804400" y="2133600"/>
            <a:ext cx="14224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62" name="AutoShape 62"/>
          <p:cNvSpPr/>
          <p:nvPr/>
        </p:nvSpPr>
        <p:spPr>
          <a:xfrm>
            <a:off x="9817100" y="21336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SDRAM帧缓存</a:t>
            </a:r>
            <a:endParaRPr lang="en-US" sz="1100"/>
          </a:p>
          <a:p>
            <a:pPr marL="0" indent="0" algn="ctr">
              <a:lnSpc>
                <a:spcPct val="88000"/>
              </a:lnSpc>
            </a:pPr>
            <a:r>
              <a:rPr lang="en-US" sz="8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(双缓冲)</a:t>
            </a:r>
          </a:p>
        </p:txBody>
      </p:sp>
      <p:sp>
        <p:nvSpPr>
          <p:cNvPr id="63" name="AutoShape 63"/>
          <p:cNvSpPr/>
          <p:nvPr/>
        </p:nvSpPr>
        <p:spPr>
          <a:xfrm>
            <a:off x="8890000" y="2794000"/>
            <a:ext cx="7112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64" name="AutoShape 64"/>
          <p:cNvSpPr/>
          <p:nvPr/>
        </p:nvSpPr>
        <p:spPr>
          <a:xfrm>
            <a:off x="8902700" y="2794000"/>
            <a:ext cx="6858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读FIFO</a:t>
            </a:r>
            <a:endParaRPr lang="en-US" sz="1100"/>
          </a:p>
        </p:txBody>
      </p:sp>
      <p:sp>
        <p:nvSpPr>
          <p:cNvPr id="65" name="AutoShape 65"/>
          <p:cNvSpPr/>
          <p:nvPr/>
        </p:nvSpPr>
        <p:spPr>
          <a:xfrm>
            <a:off x="9804400" y="2794000"/>
            <a:ext cx="1422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66" name="AutoShape 66"/>
          <p:cNvSpPr/>
          <p:nvPr/>
        </p:nvSpPr>
        <p:spPr>
          <a:xfrm>
            <a:off x="9817100" y="27940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OSD叠加引擎</a:t>
            </a:r>
            <a:endParaRPr lang="en-US" sz="1100"/>
          </a:p>
        </p:txBody>
      </p:sp>
      <p:sp>
        <p:nvSpPr>
          <p:cNvPr id="67" name="AutoShape 67"/>
          <p:cNvSpPr/>
          <p:nvPr/>
        </p:nvSpPr>
        <p:spPr>
          <a:xfrm>
            <a:off x="9804400" y="3454400"/>
            <a:ext cx="1422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68" name="AutoShape 68"/>
          <p:cNvSpPr/>
          <p:nvPr/>
        </p:nvSpPr>
        <p:spPr>
          <a:xfrm>
            <a:off x="9817100" y="34544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转场特效引擎</a:t>
            </a:r>
            <a:endParaRPr lang="en-US" sz="1100"/>
          </a:p>
        </p:txBody>
      </p:sp>
      <p:sp>
        <p:nvSpPr>
          <p:cNvPr id="69" name="AutoShape 69"/>
          <p:cNvSpPr/>
          <p:nvPr/>
        </p:nvSpPr>
        <p:spPr>
          <a:xfrm>
            <a:off x="11328400" y="2794000"/>
            <a:ext cx="533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70" name="AutoShape 70"/>
          <p:cNvSpPr/>
          <p:nvPr/>
        </p:nvSpPr>
        <p:spPr>
          <a:xfrm>
            <a:off x="11341100" y="2794000"/>
            <a:ext cx="508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OSD</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ROM</a:t>
            </a:r>
          </a:p>
        </p:txBody>
      </p:sp>
      <p:sp>
        <p:nvSpPr>
          <p:cNvPr id="71" name="AutoShape 71"/>
          <p:cNvSpPr/>
          <p:nvPr/>
        </p:nvSpPr>
        <p:spPr>
          <a:xfrm>
            <a:off x="9804400" y="4114800"/>
            <a:ext cx="14224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72" name="AutoShape 72"/>
          <p:cNvSpPr/>
          <p:nvPr/>
        </p:nvSpPr>
        <p:spPr>
          <a:xfrm>
            <a:off x="9817100" y="41148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HDMI控制器</a:t>
            </a:r>
            <a:endParaRPr lang="en-US" sz="1100"/>
          </a:p>
        </p:txBody>
      </p:sp>
      <p:sp>
        <p:nvSpPr>
          <p:cNvPr id="73" name="AutoShape 73"/>
          <p:cNvSpPr/>
          <p:nvPr/>
        </p:nvSpPr>
        <p:spPr>
          <a:xfrm>
            <a:off x="7061200" y="1803400"/>
            <a:ext cx="14224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状态显示： 1.空闲 2.搜索BMP 3.写入SDRAM 4.OSD叠加</a:t>
            </a:r>
            <a:endParaRPr lang="en-US" sz="1100"/>
          </a:p>
        </p:txBody>
      </p:sp>
      <p:cxnSp>
        <p:nvCxnSpPr>
          <p:cNvPr id="74" name="Connector 74"/>
          <p:cNvCxnSpPr/>
          <p:nvPr/>
        </p:nvCxnSpPr>
        <p:spPr>
          <a:xfrm rot="-263922">
            <a:off x="8445744" y="3117850"/>
            <a:ext cx="165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75" name="Connector 75"/>
          <p:cNvCxnSpPr/>
          <p:nvPr/>
        </p:nvCxnSpPr>
        <p:spPr>
          <a:xfrm rot="-5452884">
            <a:off x="8197850" y="2705051"/>
            <a:ext cx="825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76" name="Connector 76"/>
          <p:cNvCxnSpPr/>
          <p:nvPr/>
        </p:nvCxnSpPr>
        <p:spPr>
          <a:xfrm rot="-156153">
            <a:off x="8610744" y="2292350"/>
            <a:ext cx="279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77" name="Connector 77"/>
          <p:cNvCxnSpPr/>
          <p:nvPr/>
        </p:nvCxnSpPr>
        <p:spPr>
          <a:xfrm rot="-214580">
            <a:off x="9601398" y="2292350"/>
            <a:ext cx="2032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78" name="Connector 78"/>
          <p:cNvCxnSpPr/>
          <p:nvPr/>
        </p:nvCxnSpPr>
        <p:spPr>
          <a:xfrm rot="5154862">
            <a:off x="9944100" y="2546576"/>
            <a:ext cx="177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79" name="Connector 79"/>
          <p:cNvCxnSpPr/>
          <p:nvPr/>
        </p:nvCxnSpPr>
        <p:spPr>
          <a:xfrm rot="10744557">
            <a:off x="9245549" y="2635250"/>
            <a:ext cx="787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0" name="Connector 80"/>
          <p:cNvCxnSpPr/>
          <p:nvPr/>
        </p:nvCxnSpPr>
        <p:spPr>
          <a:xfrm rot="5114181">
            <a:off x="9169400" y="2711714"/>
            <a:ext cx="152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81" name="Connector 81"/>
          <p:cNvCxnSpPr/>
          <p:nvPr/>
        </p:nvCxnSpPr>
        <p:spPr>
          <a:xfrm rot="-214580">
            <a:off x="9601398" y="2952750"/>
            <a:ext cx="2032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2" name="Connector 82"/>
          <p:cNvCxnSpPr/>
          <p:nvPr/>
        </p:nvCxnSpPr>
        <p:spPr>
          <a:xfrm rot="10372499">
            <a:off x="11226405" y="2952750"/>
            <a:ext cx="1016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83" name="Connector 83"/>
          <p:cNvCxnSpPr/>
          <p:nvPr/>
        </p:nvCxnSpPr>
        <p:spPr>
          <a:xfrm rot="5267844">
            <a:off x="10350500" y="3283072"/>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84" name="Connector 84"/>
          <p:cNvCxnSpPr/>
          <p:nvPr/>
        </p:nvCxnSpPr>
        <p:spPr>
          <a:xfrm rot="5267844">
            <a:off x="10350500" y="3943472"/>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sp>
        <p:nvSpPr>
          <p:cNvPr id="85" name="AutoShape 85"/>
          <p:cNvSpPr/>
          <p:nvPr/>
        </p:nvSpPr>
        <p:spPr>
          <a:xfrm>
            <a:off x="8483600" y="2095500"/>
            <a:ext cx="457200" cy="152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BMP数据</a:t>
            </a:r>
            <a:endParaRPr lang="en-US" sz="1100"/>
          </a:p>
        </p:txBody>
      </p:sp>
      <p:sp>
        <p:nvSpPr>
          <p:cNvPr id="86" name="AutoShape 86"/>
          <p:cNvSpPr/>
          <p:nvPr/>
        </p:nvSpPr>
        <p:spPr>
          <a:xfrm>
            <a:off x="10668000" y="3149600"/>
            <a:ext cx="635000" cy="152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CD1020"/>
                </a:solidFill>
                <a:latin typeface="Noto Sans SC" panose="020B0200000000000000" charset="-122"/>
                <a:ea typeface="Noto Sans SC" panose="020B0200000000000000" charset="-122"/>
                <a:cs typeface="Noto Sans SC" panose="020B0200000000000000" charset="-122"/>
                <a:sym typeface="Noto Sans SC" panose="020B0200000000000000" charset="-122"/>
              </a:rPr>
              <a:t>RGB+Alpha</a:t>
            </a:r>
            <a:endParaRPr lang="en-US" sz="1100"/>
          </a:p>
        </p:txBody>
      </p:sp>
      <p:sp>
        <p:nvSpPr>
          <p:cNvPr id="87" name="AutoShape 87"/>
          <p:cNvSpPr/>
          <p:nvPr/>
        </p:nvSpPr>
        <p:spPr>
          <a:xfrm>
            <a:off x="698500" y="5308599"/>
            <a:ext cx="10795000" cy="1255941"/>
          </a:xfrm>
          <a:prstGeom prst="rect">
            <a:avLst/>
          </a:prstGeom>
          <a:noFill/>
          <a:ln w="12700" cap="flat" cmpd="sng">
            <a:noFill/>
            <a:prstDash val="solid"/>
            <a:round/>
          </a:ln>
        </p:spPr>
        <p:txBody>
          <a:bodyPr vert="horz" wrap="square" lIns="0" tIns="0" rIns="0" bIns="0" rtlCol="0" anchor="t" anchorCtr="0"/>
          <a:lstStyle/>
          <a:p>
            <a:pPr indent="457200">
              <a:lnSpc>
                <a:spcPct val="150000"/>
              </a:lnSpc>
              <a:defRPr/>
            </a:pP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在例程</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4</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基础上，自定义 </a:t>
            </a:r>
            <a:r>
              <a:rPr lang="en-US" altLang="zh-CN" sz="1600"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OSD</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叠加模块实现多图层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Alpha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混合，在图片播放时叠加动态文字</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时间戳、标语</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与安路</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Logo</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；转场特效通过双帧缓存与</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Alpha</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渐变系数实现淡入淡出，或利用行缓存实现左右滑动切换，确保轮播过程画面连续、无闪烁。</a:t>
            </a:r>
            <a:endPar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4445"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565900"/>
            <a:ext cx="2624436" cy="22860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1092199" y="140708"/>
            <a:ext cx="8598647" cy="523220"/>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en-US" sz="2600" spc="300">
                <a:solidFill>
                  <a:srgbClr val="0D0D0D"/>
                </a:solidFill>
                <a:latin typeface="思源黑体 CN Heavy"/>
                <a:ea typeface="思源黑体 CN Heavy"/>
                <a:cs typeface="思源黑体 CN Heavy"/>
                <a:sym typeface="思源黑体 CN Heavy"/>
              </a:rPr>
              <a:t>选题一：基于安路FPGA的HDMI多媒体展示系统</a:t>
            </a:r>
            <a:endParaRPr lang="en-US" sz="1100"/>
          </a:p>
        </p:txBody>
      </p:sp>
      <p:sp>
        <p:nvSpPr>
          <p:cNvPr id="7" name="AutoShape 7"/>
          <p:cNvSpPr/>
          <p:nvPr/>
        </p:nvSpPr>
        <p:spPr>
          <a:xfrm>
            <a:off x="680720" y="1049020"/>
            <a:ext cx="10847892" cy="46166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zh-CN" altLang="en-US" sz="24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扩展要求3、4一一图片缩放适配、实时调节与信息叠加</a:t>
            </a:r>
          </a:p>
        </p:txBody>
      </p:sp>
      <p:sp>
        <p:nvSpPr>
          <p:cNvPr id="8" name="AutoShape 8"/>
          <p:cNvSpPr/>
          <p:nvPr/>
        </p:nvSpPr>
        <p:spPr>
          <a:xfrm>
            <a:off x="317500" y="1651000"/>
            <a:ext cx="5397500" cy="3492500"/>
          </a:xfrm>
          <a:prstGeom prst="roundRect">
            <a:avLst>
              <a:gd name="adj" fmla="val 0"/>
            </a:avLst>
          </a:prstGeom>
          <a:solidFill>
            <a:srgbClr val="E1EBFA">
              <a:alpha val="100000"/>
            </a:srgbClr>
          </a:solidFill>
          <a:ln w="12700" cap="flat" cmpd="sng">
            <a:solidFill>
              <a:srgbClr val="96AAC8">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19100" y="1689100"/>
            <a:ext cx="1270000" cy="177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3C5078"/>
                </a:solidFill>
                <a:latin typeface="Noto Sans SC" panose="020B0200000000000000" charset="-122"/>
                <a:ea typeface="Noto Sans SC" panose="020B0200000000000000" charset="-122"/>
                <a:cs typeface="Noto Sans SC" panose="020B0200000000000000" charset="-122"/>
                <a:sym typeface="Noto Sans SC" panose="020B0200000000000000" charset="-122"/>
              </a:rPr>
              <a:t>FPGA Board</a:t>
            </a:r>
            <a:endParaRPr lang="en-US" sz="1100"/>
          </a:p>
        </p:txBody>
      </p:sp>
      <p:sp>
        <p:nvSpPr>
          <p:cNvPr id="10" name="AutoShape 10"/>
          <p:cNvSpPr/>
          <p:nvPr/>
        </p:nvSpPr>
        <p:spPr>
          <a:xfrm>
            <a:off x="508000" y="2159000"/>
            <a:ext cx="1079500" cy="533400"/>
          </a:xfrm>
          <a:prstGeom prst="roundRect">
            <a:avLst>
              <a:gd name="adj" fmla="val 0"/>
            </a:avLst>
          </a:prstGeom>
          <a:solidFill>
            <a:srgbClr val="FFC896">
              <a:alpha val="100000"/>
            </a:srgbClr>
          </a:solidFill>
          <a:ln w="12700" cap="flat" cmpd="sng">
            <a:solidFill>
              <a:srgbClr val="B4783C">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33400" y="2159000"/>
            <a:ext cx="1028700" cy="533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800" b="0" i="0" u="none" strike="noStrike">
                <a:solidFill>
                  <a:srgbClr val="503214"/>
                </a:solidFill>
                <a:latin typeface="Noto Sans SC" panose="020B0200000000000000" charset="-122"/>
                <a:ea typeface="Noto Sans SC" panose="020B0200000000000000" charset="-122"/>
                <a:cs typeface="Noto Sans SC" panose="020B0200000000000000" charset="-122"/>
                <a:sym typeface="Noto Sans SC" panose="020B0200000000000000" charset="-122"/>
              </a:rPr>
              <a:t>SD/TF Interface</a:t>
            </a:r>
            <a:endParaRPr lang="en-US" sz="1100"/>
          </a:p>
        </p:txBody>
      </p:sp>
      <p:sp>
        <p:nvSpPr>
          <p:cNvPr id="12" name="AutoShape 12"/>
          <p:cNvSpPr/>
          <p:nvPr/>
        </p:nvSpPr>
        <p:spPr>
          <a:xfrm>
            <a:off x="2032000" y="2921000"/>
            <a:ext cx="1905000" cy="1206500"/>
          </a:xfrm>
          <a:prstGeom prst="roundRect">
            <a:avLst>
              <a:gd name="adj" fmla="val 0"/>
            </a:avLst>
          </a:prstGeom>
          <a:solidFill>
            <a:srgbClr val="C8E6C8">
              <a:alpha val="100000"/>
            </a:srgbClr>
          </a:solidFill>
          <a:ln w="25400" cap="flat" cmpd="sng">
            <a:solidFill>
              <a:srgbClr val="508250">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057400" y="2971800"/>
            <a:ext cx="1854200" cy="228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000" b="0" i="0" u="none" strike="noStrike">
                <a:solidFill>
                  <a:srgbClr val="285028"/>
                </a:solidFill>
                <a:latin typeface="Noto Sans SC" panose="020B0200000000000000" charset="-122"/>
                <a:ea typeface="Noto Sans SC" panose="020B0200000000000000" charset="-122"/>
                <a:cs typeface="Noto Sans SC" panose="020B0200000000000000" charset="-122"/>
                <a:sym typeface="Noto Sans SC" panose="020B0200000000000000" charset="-122"/>
              </a:rPr>
              <a:t>FPGA</a:t>
            </a:r>
            <a:endParaRPr lang="en-US" sz="1100"/>
          </a:p>
        </p:txBody>
      </p:sp>
      <p:sp>
        <p:nvSpPr>
          <p:cNvPr id="14" name="AutoShape 14"/>
          <p:cNvSpPr/>
          <p:nvPr/>
        </p:nvSpPr>
        <p:spPr>
          <a:xfrm>
            <a:off x="2349500" y="3302000"/>
            <a:ext cx="1270000" cy="482600"/>
          </a:xfrm>
          <a:prstGeom prst="roundRect">
            <a:avLst>
              <a:gd name="adj" fmla="val 0"/>
            </a:avLst>
          </a:prstGeom>
          <a:solidFill>
            <a:srgbClr val="DCF0DC">
              <a:alpha val="100000"/>
            </a:srgbClr>
          </a:solidFill>
          <a:ln w="12700" cap="flat" cmpd="sng">
            <a:solidFill>
              <a:srgbClr val="649664">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374900" y="3302000"/>
            <a:ext cx="1219200" cy="482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285028"/>
                </a:solidFill>
                <a:latin typeface="Noto Sans SC" panose="020B0200000000000000" charset="-122"/>
                <a:ea typeface="Noto Sans SC" panose="020B0200000000000000" charset="-122"/>
                <a:cs typeface="Noto Sans SC" panose="020B0200000000000000" charset="-122"/>
                <a:sym typeface="Noto Sans SC" panose="020B0200000000000000" charset="-122"/>
              </a:rPr>
              <a:t>SDRAM</a:t>
            </a:r>
            <a:endParaRPr lang="en-US" sz="1100"/>
          </a:p>
        </p:txBody>
      </p:sp>
      <p:sp>
        <p:nvSpPr>
          <p:cNvPr id="16" name="AutoShape 16"/>
          <p:cNvSpPr/>
          <p:nvPr/>
        </p:nvSpPr>
        <p:spPr>
          <a:xfrm>
            <a:off x="4254500" y="2159000"/>
            <a:ext cx="1079500" cy="533400"/>
          </a:xfrm>
          <a:prstGeom prst="roundRect">
            <a:avLst>
              <a:gd name="adj" fmla="val 0"/>
            </a:avLst>
          </a:prstGeom>
          <a:solidFill>
            <a:srgbClr val="FFC896">
              <a:alpha val="100000"/>
            </a:srgbClr>
          </a:solidFill>
          <a:ln w="12700" cap="flat" cmpd="sng">
            <a:solidFill>
              <a:srgbClr val="B4783C">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279900" y="2159000"/>
            <a:ext cx="1028700" cy="533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800" b="0" i="0" u="none" strike="noStrike">
                <a:solidFill>
                  <a:srgbClr val="503214"/>
                </a:solidFill>
                <a:latin typeface="Noto Sans SC" panose="020B0200000000000000" charset="-122"/>
                <a:ea typeface="Noto Sans SC" panose="020B0200000000000000" charset="-122"/>
                <a:cs typeface="Noto Sans SC" panose="020B0200000000000000" charset="-122"/>
                <a:sym typeface="Noto Sans SC" panose="020B0200000000000000" charset="-122"/>
              </a:rPr>
              <a:t>HDMI Interface</a:t>
            </a:r>
            <a:endParaRPr lang="en-US" sz="1100"/>
          </a:p>
        </p:txBody>
      </p:sp>
      <p:sp>
        <p:nvSpPr>
          <p:cNvPr id="18" name="AutoShape 18"/>
          <p:cNvSpPr/>
          <p:nvPr/>
        </p:nvSpPr>
        <p:spPr>
          <a:xfrm>
            <a:off x="4953000" y="2921000"/>
            <a:ext cx="533400" cy="406400"/>
          </a:xfrm>
          <a:prstGeom prst="roundRect">
            <a:avLst>
              <a:gd name="adj" fmla="val 0"/>
            </a:avLst>
          </a:prstGeom>
          <a:solidFill>
            <a:srgbClr val="F0F0F0">
              <a:alpha val="100000"/>
            </a:srgbClr>
          </a:solidFill>
          <a:ln w="12700" cap="flat" cmpd="sng">
            <a:solidFill>
              <a:srgbClr val="646464">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4978400" y="2921000"/>
            <a:ext cx="482600" cy="406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显示器</a:t>
            </a:r>
            <a:endParaRPr lang="en-US" sz="1100"/>
          </a:p>
        </p:txBody>
      </p:sp>
      <p:sp>
        <p:nvSpPr>
          <p:cNvPr id="20" name="AutoShape 20"/>
          <p:cNvSpPr/>
          <p:nvPr/>
        </p:nvSpPr>
        <p:spPr>
          <a:xfrm>
            <a:off x="508000" y="3175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08000" y="3187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KEY2</a:t>
            </a:r>
            <a:endParaRPr lang="en-US" sz="1100"/>
          </a:p>
        </p:txBody>
      </p:sp>
      <p:sp>
        <p:nvSpPr>
          <p:cNvPr id="22" name="AutoShape 22"/>
          <p:cNvSpPr/>
          <p:nvPr/>
        </p:nvSpPr>
        <p:spPr>
          <a:xfrm>
            <a:off x="508000" y="36195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508000" y="36322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KEY4</a:t>
            </a:r>
            <a:endParaRPr lang="en-US" sz="1100"/>
          </a:p>
        </p:txBody>
      </p:sp>
      <p:cxnSp>
        <p:nvCxnSpPr>
          <p:cNvPr id="24" name="Connector 24"/>
          <p:cNvCxnSpPr/>
          <p:nvPr/>
        </p:nvCxnSpPr>
        <p:spPr>
          <a:xfrm rot="-137436">
            <a:off x="1587627" y="2419350"/>
            <a:ext cx="317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5" name="Connector 25"/>
          <p:cNvCxnSpPr/>
          <p:nvPr/>
        </p:nvCxnSpPr>
        <p:spPr>
          <a:xfrm rot="5353546">
            <a:off x="1435100" y="2889293"/>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6" name="Connector 26"/>
          <p:cNvCxnSpPr/>
          <p:nvPr/>
        </p:nvCxnSpPr>
        <p:spPr>
          <a:xfrm rot="-342635">
            <a:off x="1905317" y="3359150"/>
            <a:ext cx="1270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27" name="Connector 27"/>
          <p:cNvCxnSpPr/>
          <p:nvPr/>
        </p:nvCxnSpPr>
        <p:spPr>
          <a:xfrm rot="-228844">
            <a:off x="3937211" y="3359150"/>
            <a:ext cx="190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8" name="Connector 28"/>
          <p:cNvCxnSpPr/>
          <p:nvPr/>
        </p:nvCxnSpPr>
        <p:spPr>
          <a:xfrm rot="-5446453">
            <a:off x="3657600" y="2889207"/>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9" name="Connector 29"/>
          <p:cNvCxnSpPr/>
          <p:nvPr/>
        </p:nvCxnSpPr>
        <p:spPr>
          <a:xfrm rot="-342635">
            <a:off x="4127817" y="2419350"/>
            <a:ext cx="1270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30" name="Connector 30"/>
          <p:cNvCxnSpPr/>
          <p:nvPr/>
        </p:nvCxnSpPr>
        <p:spPr>
          <a:xfrm rot="5209210">
            <a:off x="4673600" y="2800526"/>
            <a:ext cx="2286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31" name="Connector 31"/>
          <p:cNvCxnSpPr/>
          <p:nvPr/>
        </p:nvCxnSpPr>
        <p:spPr>
          <a:xfrm rot="-263922">
            <a:off x="4788144" y="2914650"/>
            <a:ext cx="165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32" name="Connector 32"/>
          <p:cNvCxnSpPr/>
          <p:nvPr/>
        </p:nvCxnSpPr>
        <p:spPr>
          <a:xfrm rot="-46453">
            <a:off x="1092243" y="3308350"/>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33" name="Connector 33"/>
          <p:cNvCxnSpPr/>
          <p:nvPr/>
        </p:nvCxnSpPr>
        <p:spPr>
          <a:xfrm rot="-46453">
            <a:off x="1092243" y="3752850"/>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sp>
        <p:nvSpPr>
          <p:cNvPr id="34" name="AutoShape 34"/>
          <p:cNvSpPr/>
          <p:nvPr/>
        </p:nvSpPr>
        <p:spPr>
          <a:xfrm>
            <a:off x="2032000" y="4254500"/>
            <a:ext cx="19050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2044700" y="4254500"/>
            <a:ext cx="18796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缩放引擎(双线性插值)</a:t>
            </a:r>
            <a:endParaRPr lang="en-US" sz="1100"/>
          </a:p>
        </p:txBody>
      </p:sp>
      <p:sp>
        <p:nvSpPr>
          <p:cNvPr id="36" name="AutoShape 36"/>
          <p:cNvSpPr/>
          <p:nvPr/>
        </p:nvSpPr>
        <p:spPr>
          <a:xfrm>
            <a:off x="2032000" y="4660900"/>
            <a:ext cx="1905000" cy="2794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2044700" y="4660900"/>
            <a:ext cx="1879600" cy="2794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亮度/对比度调节+OSD</a:t>
            </a:r>
            <a:endParaRPr lang="en-US" sz="1100"/>
          </a:p>
        </p:txBody>
      </p:sp>
      <p:sp>
        <p:nvSpPr>
          <p:cNvPr id="38" name="AutoShape 38"/>
          <p:cNvSpPr/>
          <p:nvPr/>
        </p:nvSpPr>
        <p:spPr>
          <a:xfrm>
            <a:off x="508000" y="4191000"/>
            <a:ext cx="1079500" cy="2540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520700" y="4191000"/>
            <a:ext cx="1054100" cy="2540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拨码开关</a:t>
            </a:r>
            <a:endParaRPr lang="en-US" sz="1100"/>
          </a:p>
        </p:txBody>
      </p:sp>
      <p:sp>
        <p:nvSpPr>
          <p:cNvPr id="40" name="AutoShape 40"/>
          <p:cNvSpPr/>
          <p:nvPr/>
        </p:nvSpPr>
        <p:spPr>
          <a:xfrm>
            <a:off x="5905500" y="1524000"/>
            <a:ext cx="6159500" cy="36830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1" name="AutoShape 41"/>
          <p:cNvSpPr/>
          <p:nvPr/>
        </p:nvSpPr>
        <p:spPr>
          <a:xfrm>
            <a:off x="5956300" y="1485900"/>
            <a:ext cx="901700" cy="177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endParaRPr lang="en-US" sz="1100"/>
          </a:p>
        </p:txBody>
      </p:sp>
      <p:sp>
        <p:nvSpPr>
          <p:cNvPr id="42" name="AutoShape 42"/>
          <p:cNvSpPr/>
          <p:nvPr/>
        </p:nvSpPr>
        <p:spPr>
          <a:xfrm>
            <a:off x="6032500" y="1676400"/>
            <a:ext cx="2540000" cy="7874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3" name="AutoShape 43"/>
          <p:cNvSpPr/>
          <p:nvPr/>
        </p:nvSpPr>
        <p:spPr>
          <a:xfrm>
            <a:off x="7620000" y="16383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50MHz</a:t>
            </a:r>
            <a:endParaRPr lang="en-US" sz="1100"/>
          </a:p>
        </p:txBody>
      </p:sp>
      <p:sp>
        <p:nvSpPr>
          <p:cNvPr id="44" name="AutoShape 44"/>
          <p:cNvSpPr/>
          <p:nvPr/>
        </p:nvSpPr>
        <p:spPr>
          <a:xfrm>
            <a:off x="6197600" y="1879600"/>
            <a:ext cx="7620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6210300" y="1879600"/>
            <a:ext cx="7366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数码管</a:t>
            </a:r>
            <a:endParaRPr lang="en-US" sz="1100"/>
          </a:p>
        </p:txBody>
      </p:sp>
      <p:sp>
        <p:nvSpPr>
          <p:cNvPr id="46" name="AutoShape 46"/>
          <p:cNvSpPr/>
          <p:nvPr/>
        </p:nvSpPr>
        <p:spPr>
          <a:xfrm>
            <a:off x="6032500" y="2590800"/>
            <a:ext cx="2540000" cy="11176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7" name="AutoShape 47"/>
          <p:cNvSpPr/>
          <p:nvPr/>
        </p:nvSpPr>
        <p:spPr>
          <a:xfrm>
            <a:off x="7620000" y="25527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100MHz</a:t>
            </a:r>
            <a:endParaRPr lang="en-US" sz="1100"/>
          </a:p>
        </p:txBody>
      </p:sp>
      <p:sp>
        <p:nvSpPr>
          <p:cNvPr id="48" name="AutoShape 48"/>
          <p:cNvSpPr/>
          <p:nvPr/>
        </p:nvSpPr>
        <p:spPr>
          <a:xfrm>
            <a:off x="6197600" y="2794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6197600" y="2806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KEY2</a:t>
            </a:r>
            <a:endParaRPr lang="en-US" sz="1100"/>
          </a:p>
        </p:txBody>
      </p:sp>
      <p:sp>
        <p:nvSpPr>
          <p:cNvPr id="50" name="AutoShape 50"/>
          <p:cNvSpPr/>
          <p:nvPr/>
        </p:nvSpPr>
        <p:spPr>
          <a:xfrm>
            <a:off x="6197600" y="3175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6197600" y="3187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KEY4</a:t>
            </a:r>
            <a:endParaRPr lang="en-US" sz="1100"/>
          </a:p>
        </p:txBody>
      </p:sp>
      <p:sp>
        <p:nvSpPr>
          <p:cNvPr id="52" name="AutoShape 52"/>
          <p:cNvSpPr/>
          <p:nvPr/>
        </p:nvSpPr>
        <p:spPr>
          <a:xfrm>
            <a:off x="6959600" y="2946400"/>
            <a:ext cx="609600" cy="3556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3" name="AutoShape 53"/>
          <p:cNvSpPr/>
          <p:nvPr/>
        </p:nvSpPr>
        <p:spPr>
          <a:xfrm>
            <a:off x="6972300" y="2946400"/>
            <a:ext cx="584200" cy="3556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消抖</a:t>
            </a:r>
            <a:endParaRPr lang="en-US" sz="1100"/>
          </a:p>
        </p:txBody>
      </p:sp>
      <p:sp>
        <p:nvSpPr>
          <p:cNvPr id="54" name="AutoShape 54"/>
          <p:cNvSpPr/>
          <p:nvPr/>
        </p:nvSpPr>
        <p:spPr>
          <a:xfrm>
            <a:off x="7747000" y="2946400"/>
            <a:ext cx="698500" cy="3556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5" name="AutoShape 55"/>
          <p:cNvSpPr/>
          <p:nvPr/>
        </p:nvSpPr>
        <p:spPr>
          <a:xfrm>
            <a:off x="7759700" y="2946400"/>
            <a:ext cx="673100" cy="3556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SD卡</a:t>
            </a:r>
            <a:endParaRPr lang="en-US" sz="1100"/>
          </a:p>
        </p:txBody>
      </p:sp>
      <p:cxnSp>
        <p:nvCxnSpPr>
          <p:cNvPr id="56" name="Connector 56"/>
          <p:cNvCxnSpPr/>
          <p:nvPr/>
        </p:nvCxnSpPr>
        <p:spPr>
          <a:xfrm rot="1757807">
            <a:off x="6765175" y="2984603"/>
            <a:ext cx="21137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57" name="Connector 57"/>
          <p:cNvCxnSpPr/>
          <p:nvPr/>
        </p:nvCxnSpPr>
        <p:spPr>
          <a:xfrm rot="-2482314">
            <a:off x="6757782" y="3238390"/>
            <a:ext cx="226117"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58" name="Connector 58"/>
          <p:cNvCxnSpPr/>
          <p:nvPr/>
        </p:nvCxnSpPr>
        <p:spPr>
          <a:xfrm rot="-245137">
            <a:off x="7569426" y="3117850"/>
            <a:ext cx="177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sp>
        <p:nvSpPr>
          <p:cNvPr id="59" name="AutoShape 59"/>
          <p:cNvSpPr/>
          <p:nvPr/>
        </p:nvSpPr>
        <p:spPr>
          <a:xfrm>
            <a:off x="8763000" y="1676400"/>
            <a:ext cx="3200400" cy="34290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60" name="AutoShape 60"/>
          <p:cNvSpPr/>
          <p:nvPr/>
        </p:nvSpPr>
        <p:spPr>
          <a:xfrm>
            <a:off x="11010900" y="16383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125MHz</a:t>
            </a:r>
            <a:endParaRPr lang="en-US" sz="1100"/>
          </a:p>
        </p:txBody>
      </p:sp>
      <p:sp>
        <p:nvSpPr>
          <p:cNvPr id="61" name="AutoShape 61"/>
          <p:cNvSpPr/>
          <p:nvPr/>
        </p:nvSpPr>
        <p:spPr>
          <a:xfrm>
            <a:off x="8890000" y="2133600"/>
            <a:ext cx="7112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62" name="AutoShape 62"/>
          <p:cNvSpPr/>
          <p:nvPr/>
        </p:nvSpPr>
        <p:spPr>
          <a:xfrm>
            <a:off x="8902700" y="2133600"/>
            <a:ext cx="6858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写FIFO</a:t>
            </a:r>
            <a:endParaRPr lang="en-US" sz="1100"/>
          </a:p>
        </p:txBody>
      </p:sp>
      <p:sp>
        <p:nvSpPr>
          <p:cNvPr id="63" name="AutoShape 63"/>
          <p:cNvSpPr/>
          <p:nvPr/>
        </p:nvSpPr>
        <p:spPr>
          <a:xfrm>
            <a:off x="9804400" y="2133600"/>
            <a:ext cx="14224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64" name="AutoShape 64"/>
          <p:cNvSpPr/>
          <p:nvPr/>
        </p:nvSpPr>
        <p:spPr>
          <a:xfrm>
            <a:off x="9817100" y="21336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SDRAM帧缓存</a:t>
            </a:r>
            <a:endParaRPr lang="en-US" sz="1100"/>
          </a:p>
        </p:txBody>
      </p:sp>
      <p:sp>
        <p:nvSpPr>
          <p:cNvPr id="65" name="AutoShape 65"/>
          <p:cNvSpPr/>
          <p:nvPr/>
        </p:nvSpPr>
        <p:spPr>
          <a:xfrm>
            <a:off x="8915400" y="3860800"/>
            <a:ext cx="7112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66" name="AutoShape 66"/>
          <p:cNvSpPr/>
          <p:nvPr/>
        </p:nvSpPr>
        <p:spPr>
          <a:xfrm>
            <a:off x="8915400" y="3860800"/>
            <a:ext cx="6858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读FIFO</a:t>
            </a:r>
            <a:endParaRPr lang="en-US" sz="1100"/>
          </a:p>
        </p:txBody>
      </p:sp>
      <p:sp>
        <p:nvSpPr>
          <p:cNvPr id="67" name="AutoShape 67"/>
          <p:cNvSpPr/>
          <p:nvPr/>
        </p:nvSpPr>
        <p:spPr>
          <a:xfrm>
            <a:off x="9804400" y="2794000"/>
            <a:ext cx="1422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68" name="AutoShape 68"/>
          <p:cNvSpPr/>
          <p:nvPr/>
        </p:nvSpPr>
        <p:spPr>
          <a:xfrm>
            <a:off x="9817100" y="27940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缩放引擎</a:t>
            </a:r>
            <a:endParaRPr lang="en-US" sz="1100"/>
          </a:p>
        </p:txBody>
      </p:sp>
      <p:sp>
        <p:nvSpPr>
          <p:cNvPr id="69" name="AutoShape 69"/>
          <p:cNvSpPr/>
          <p:nvPr/>
        </p:nvSpPr>
        <p:spPr>
          <a:xfrm>
            <a:off x="9804400" y="3454400"/>
            <a:ext cx="1422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70" name="AutoShape 70"/>
          <p:cNvSpPr/>
          <p:nvPr/>
        </p:nvSpPr>
        <p:spPr>
          <a:xfrm>
            <a:off x="9817100" y="34544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亮度/对比度调节</a:t>
            </a:r>
            <a:endParaRPr lang="en-US" sz="1100"/>
          </a:p>
        </p:txBody>
      </p:sp>
      <p:sp>
        <p:nvSpPr>
          <p:cNvPr id="71" name="AutoShape 71"/>
          <p:cNvSpPr/>
          <p:nvPr/>
        </p:nvSpPr>
        <p:spPr>
          <a:xfrm>
            <a:off x="11328400" y="3454400"/>
            <a:ext cx="533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72" name="AutoShape 72"/>
          <p:cNvSpPr/>
          <p:nvPr/>
        </p:nvSpPr>
        <p:spPr>
          <a:xfrm>
            <a:off x="11341100" y="3454400"/>
            <a:ext cx="508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OSD</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a:t>
            </a:r>
          </a:p>
        </p:txBody>
      </p:sp>
      <p:sp>
        <p:nvSpPr>
          <p:cNvPr id="73" name="AutoShape 73"/>
          <p:cNvSpPr/>
          <p:nvPr/>
        </p:nvSpPr>
        <p:spPr>
          <a:xfrm>
            <a:off x="9804400" y="4114800"/>
            <a:ext cx="14224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74" name="AutoShape 74"/>
          <p:cNvSpPr/>
          <p:nvPr/>
        </p:nvSpPr>
        <p:spPr>
          <a:xfrm>
            <a:off x="9817100" y="41148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HDMI控制器</a:t>
            </a:r>
            <a:endParaRPr lang="en-US" sz="1100"/>
          </a:p>
        </p:txBody>
      </p:sp>
      <p:sp>
        <p:nvSpPr>
          <p:cNvPr id="75" name="AutoShape 75"/>
          <p:cNvSpPr/>
          <p:nvPr/>
        </p:nvSpPr>
        <p:spPr>
          <a:xfrm>
            <a:off x="11328400" y="4114800"/>
            <a:ext cx="533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76" name="AutoShape 76"/>
          <p:cNvSpPr/>
          <p:nvPr/>
        </p:nvSpPr>
        <p:spPr>
          <a:xfrm>
            <a:off x="11341100" y="4114800"/>
            <a:ext cx="508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寄存器</a:t>
            </a:r>
          </a:p>
        </p:txBody>
      </p:sp>
      <p:sp>
        <p:nvSpPr>
          <p:cNvPr id="77" name="AutoShape 77"/>
          <p:cNvSpPr/>
          <p:nvPr/>
        </p:nvSpPr>
        <p:spPr>
          <a:xfrm>
            <a:off x="7747000" y="2641600"/>
            <a:ext cx="698500" cy="2794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78" name="AutoShape 78"/>
          <p:cNvSpPr/>
          <p:nvPr/>
        </p:nvSpPr>
        <p:spPr>
          <a:xfrm>
            <a:off x="7759700" y="2641600"/>
            <a:ext cx="673100" cy="2794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7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BMP解析</a:t>
            </a:r>
            <a:endParaRPr lang="en-US" sz="1100"/>
          </a:p>
          <a:p>
            <a:pPr marL="0" indent="0" algn="ctr">
              <a:lnSpc>
                <a:spcPct val="88000"/>
              </a:lnSpc>
            </a:pPr>
            <a:r>
              <a:rPr lang="en-US" sz="7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(信息头)</a:t>
            </a:r>
          </a:p>
        </p:txBody>
      </p:sp>
      <p:sp>
        <p:nvSpPr>
          <p:cNvPr id="79" name="AutoShape 79"/>
          <p:cNvSpPr/>
          <p:nvPr/>
        </p:nvSpPr>
        <p:spPr>
          <a:xfrm>
            <a:off x="7061200" y="1803400"/>
            <a:ext cx="14224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状态/参数显示： 分辨率、缩放比 亮度、对比度</a:t>
            </a:r>
            <a:endParaRPr lang="en-US" sz="1100"/>
          </a:p>
        </p:txBody>
      </p:sp>
      <p:cxnSp>
        <p:nvCxnSpPr>
          <p:cNvPr id="80" name="Connector 80"/>
          <p:cNvCxnSpPr/>
          <p:nvPr/>
        </p:nvCxnSpPr>
        <p:spPr>
          <a:xfrm rot="-263922">
            <a:off x="8445744" y="3117850"/>
            <a:ext cx="165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1" name="Connector 81"/>
          <p:cNvCxnSpPr/>
          <p:nvPr/>
        </p:nvCxnSpPr>
        <p:spPr>
          <a:xfrm rot="-5452884">
            <a:off x="8197850" y="2705051"/>
            <a:ext cx="825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2" name="Connector 82"/>
          <p:cNvCxnSpPr/>
          <p:nvPr/>
        </p:nvCxnSpPr>
        <p:spPr>
          <a:xfrm rot="-156153">
            <a:off x="8610744" y="2292350"/>
            <a:ext cx="279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83" name="Connector 83"/>
          <p:cNvCxnSpPr/>
          <p:nvPr/>
        </p:nvCxnSpPr>
        <p:spPr>
          <a:xfrm rot="-214580">
            <a:off x="9601398" y="2292350"/>
            <a:ext cx="2032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4" name="Connector 84"/>
          <p:cNvCxnSpPr/>
          <p:nvPr/>
        </p:nvCxnSpPr>
        <p:spPr>
          <a:xfrm rot="5154862">
            <a:off x="9944100" y="2546576"/>
            <a:ext cx="177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5" name="Connector 85"/>
          <p:cNvCxnSpPr/>
          <p:nvPr/>
        </p:nvCxnSpPr>
        <p:spPr>
          <a:xfrm rot="10744557">
            <a:off x="9245549" y="2635250"/>
            <a:ext cx="787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6" name="Connector 86"/>
          <p:cNvCxnSpPr>
            <a:endCxn id="99" idx="0"/>
          </p:cNvCxnSpPr>
          <p:nvPr/>
        </p:nvCxnSpPr>
        <p:spPr>
          <a:xfrm>
            <a:off x="9236075" y="2632075"/>
            <a:ext cx="9525" cy="1076325"/>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87" name="Connector 87"/>
          <p:cNvCxnSpPr/>
          <p:nvPr/>
        </p:nvCxnSpPr>
        <p:spPr>
          <a:xfrm rot="-214580">
            <a:off x="9601398" y="2952750"/>
            <a:ext cx="2032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8" name="Connector 88"/>
          <p:cNvCxnSpPr/>
          <p:nvPr/>
        </p:nvCxnSpPr>
        <p:spPr>
          <a:xfrm rot="-201987">
            <a:off x="8445687" y="2774950"/>
            <a:ext cx="2159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89" name="Connector 89"/>
          <p:cNvCxnSpPr/>
          <p:nvPr/>
        </p:nvCxnSpPr>
        <p:spPr>
          <a:xfrm rot="5154862">
            <a:off x="8572500" y="2864076"/>
            <a:ext cx="1778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90" name="Connector 90"/>
          <p:cNvCxnSpPr/>
          <p:nvPr/>
        </p:nvCxnSpPr>
        <p:spPr>
          <a:xfrm rot="-38195">
            <a:off x="8661435" y="2952750"/>
            <a:ext cx="11430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1" name="Connector 91"/>
          <p:cNvCxnSpPr/>
          <p:nvPr/>
        </p:nvCxnSpPr>
        <p:spPr>
          <a:xfrm rot="5267844">
            <a:off x="10350500" y="3283072"/>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2" name="Connector 92"/>
          <p:cNvCxnSpPr/>
          <p:nvPr/>
        </p:nvCxnSpPr>
        <p:spPr>
          <a:xfrm rot="10372499">
            <a:off x="11226405" y="3613150"/>
            <a:ext cx="1016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3" name="Connector 93"/>
          <p:cNvCxnSpPr/>
          <p:nvPr/>
        </p:nvCxnSpPr>
        <p:spPr>
          <a:xfrm rot="5267844">
            <a:off x="10350500" y="3943472"/>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4" name="Connector 94"/>
          <p:cNvCxnSpPr/>
          <p:nvPr/>
        </p:nvCxnSpPr>
        <p:spPr>
          <a:xfrm rot="-5532155">
            <a:off x="11430000" y="3943228"/>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5" name="Connector 95"/>
          <p:cNvCxnSpPr/>
          <p:nvPr/>
        </p:nvCxnSpPr>
        <p:spPr>
          <a:xfrm rot="-263922">
            <a:off x="8445744" y="3295650"/>
            <a:ext cx="1651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96" name="Connector 96"/>
          <p:cNvCxnSpPr/>
          <p:nvPr/>
        </p:nvCxnSpPr>
        <p:spPr>
          <a:xfrm rot="5370107">
            <a:off x="7880350" y="4025928"/>
            <a:ext cx="14605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97" name="Connector 97"/>
          <p:cNvCxnSpPr/>
          <p:nvPr/>
        </p:nvCxnSpPr>
        <p:spPr>
          <a:xfrm rot="-14628">
            <a:off x="8610614" y="4756150"/>
            <a:ext cx="29845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98" name="Connector 98"/>
          <p:cNvCxnSpPr/>
          <p:nvPr/>
        </p:nvCxnSpPr>
        <p:spPr>
          <a:xfrm rot="-5537436">
            <a:off x="11436350" y="4597273"/>
            <a:ext cx="3175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sp>
        <p:nvSpPr>
          <p:cNvPr id="99" name="AutoShape 99"/>
          <p:cNvSpPr/>
          <p:nvPr/>
        </p:nvSpPr>
        <p:spPr>
          <a:xfrm>
            <a:off x="8737600" y="3708400"/>
            <a:ext cx="1016000" cy="152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CD1020"/>
                </a:solidFill>
                <a:latin typeface="Noto Sans SC" panose="020B0200000000000000" charset="-122"/>
                <a:ea typeface="Noto Sans SC" panose="020B0200000000000000" charset="-122"/>
                <a:cs typeface="Noto Sans SC" panose="020B0200000000000000" charset="-122"/>
                <a:sym typeface="Noto Sans SC" panose="020B0200000000000000" charset="-122"/>
              </a:rPr>
              <a:t>分辨率信息</a:t>
            </a:r>
            <a:endParaRPr lang="en-US" sz="1100"/>
          </a:p>
        </p:txBody>
      </p:sp>
      <p:sp>
        <p:nvSpPr>
          <p:cNvPr id="100" name="AutoShape 100"/>
          <p:cNvSpPr/>
          <p:nvPr/>
        </p:nvSpPr>
        <p:spPr>
          <a:xfrm>
            <a:off x="698500" y="5308600"/>
            <a:ext cx="10795000" cy="1168400"/>
          </a:xfrm>
          <a:prstGeom prst="rect">
            <a:avLst/>
          </a:prstGeom>
          <a:noFill/>
          <a:ln w="12700" cap="flat" cmpd="sng">
            <a:noFill/>
            <a:prstDash val="solid"/>
            <a:round/>
          </a:ln>
        </p:spPr>
        <p:txBody>
          <a:bodyPr vert="horz" wrap="square" lIns="0" tIns="0" rIns="0" bIns="0" rtlCol="0" anchor="t" anchorCtr="0"/>
          <a:lstStyle/>
          <a:p>
            <a:pPr indent="457200">
              <a:lnSpc>
                <a:spcPct val="150000"/>
              </a:lnSpc>
              <a:defRPr/>
            </a:pP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解析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BMP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文件信息头获取原始宽高，通过双线性插值算法将任意分辨率图片缩放至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输出分辨率</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利用板载按键与拨码开关实时调节亮度、对比度等显示参数，调节系数在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FPGA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组合逻辑中实时计算，并通过 </a:t>
            </a:r>
            <a:r>
              <a:rPr lang="en-US" altLang="zh-CN" sz="1600"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OSD</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在画面角落叠加当前参数数值与调节状态。</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674550"/>
            <a:ext cx="12196482" cy="6183449"/>
          </a:xfrm>
          <a:prstGeom prst="rect">
            <a:avLst/>
          </a:prstGeom>
          <a:noFill/>
          <a:ln w="25400" cap="flat" cmpd="sng">
            <a:noFill/>
            <a:prstDash val="solid"/>
            <a:round/>
          </a:ln>
        </p:spPr>
      </p:pic>
      <p:cxnSp>
        <p:nvCxnSpPr>
          <p:cNvPr id="3" name="Connector 3"/>
          <p:cNvCxnSpPr/>
          <p:nvPr/>
        </p:nvCxnSpPr>
        <p:spPr>
          <a:xfrm>
            <a:off x="840995" y="660492"/>
            <a:ext cx="11023634" cy="12700"/>
          </a:xfrm>
          <a:prstGeom prst="line">
            <a:avLst/>
          </a:prstGeom>
          <a:solidFill>
            <a:srgbClr val="DEE0E3">
              <a:alpha val="100000"/>
            </a:srgbClr>
          </a:solidFill>
          <a:ln w="12700" cap="flat" cmpd="sng">
            <a:solidFill>
              <a:srgbClr val="CD1020">
                <a:alpha val="100000"/>
              </a:srgbClr>
            </a:solidFill>
            <a:prstDash val="solid"/>
            <a:miter lim="10000000"/>
            <a:headEnd type="none" w="med" len="med"/>
            <a:tailEnd type="none" w="med" len="med"/>
          </a:ln>
        </p:spPr>
      </p:cxnSp>
      <p:pic>
        <p:nvPicPr>
          <p:cNvPr id="4" name="Picture 4"/>
          <p:cNvPicPr>
            <a:picLocks noChangeAspect="1"/>
          </p:cNvPicPr>
          <p:nvPr/>
        </p:nvPicPr>
        <p:blipFill>
          <a:blip r:embed="rId4"/>
          <a:srcRect/>
          <a:stretch>
            <a:fillRect/>
          </a:stretch>
        </p:blipFill>
        <p:spPr>
          <a:xfrm>
            <a:off x="0" y="0"/>
            <a:ext cx="1217404" cy="674551"/>
          </a:xfrm>
          <a:prstGeom prst="rect">
            <a:avLst/>
          </a:prstGeom>
          <a:noFill/>
          <a:ln w="25400" cap="flat" cmpd="sng">
            <a:noFill/>
            <a:prstDash val="solid"/>
            <a:round/>
          </a:ln>
        </p:spPr>
      </p:pic>
      <p:sp>
        <p:nvSpPr>
          <p:cNvPr id="5" name="AutoShape 5"/>
          <p:cNvSpPr/>
          <p:nvPr/>
        </p:nvSpPr>
        <p:spPr>
          <a:xfrm>
            <a:off x="0" y="6565900"/>
            <a:ext cx="2624436" cy="228600"/>
          </a:xfrm>
          <a:prstGeom prst="rect">
            <a:avLst/>
          </a:prstGeom>
          <a:noFill/>
          <a:ln w="12700" cap="flat" cmpd="sng">
            <a:noFill/>
            <a:prstDash val="solid"/>
            <a:round/>
          </a:ln>
        </p:spPr>
        <p:txBody>
          <a:bodyPr vert="horz" wrap="none" lIns="91440" tIns="45720" rIns="91440" bIns="45720" rtlCol="0" anchor="t" anchorCtr="0"/>
          <a:lstStyle/>
          <a:p>
            <a:pPr marL="0" indent="0" algn="l">
              <a:lnSpc>
                <a:spcPct val="100000"/>
              </a:lnSpc>
              <a:defRPr/>
            </a:pPr>
            <a:r>
              <a:rPr lang="en-US" sz="1000" b="0" i="0" u="none" strike="noStrike">
                <a:solidFill>
                  <a:srgbClr val="BFBFBF"/>
                </a:solidFill>
                <a:latin typeface="Roboto"/>
                <a:ea typeface="Roboto"/>
                <a:cs typeface="Roboto"/>
                <a:sym typeface="Roboto"/>
              </a:rPr>
              <a:t>©2025 Anlogic Infotech, all rights reserved</a:t>
            </a:r>
            <a:endParaRPr lang="en-US" sz="1100"/>
          </a:p>
        </p:txBody>
      </p:sp>
      <p:sp>
        <p:nvSpPr>
          <p:cNvPr id="6" name="AutoShape 6"/>
          <p:cNvSpPr/>
          <p:nvPr/>
        </p:nvSpPr>
        <p:spPr>
          <a:xfrm>
            <a:off x="1092199" y="140708"/>
            <a:ext cx="8598647" cy="523220"/>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en-US" sz="2600" spc="300">
                <a:solidFill>
                  <a:srgbClr val="0D0D0D"/>
                </a:solidFill>
                <a:latin typeface="思源黑体 CN Heavy"/>
                <a:ea typeface="思源黑体 CN Heavy"/>
                <a:cs typeface="思源黑体 CN Heavy"/>
                <a:sym typeface="思源黑体 CN Heavy"/>
              </a:rPr>
              <a:t>选题一：基于安路FPGA的HDMI多媒体展示系统</a:t>
            </a:r>
            <a:endParaRPr lang="en-US" sz="1100"/>
          </a:p>
        </p:txBody>
      </p:sp>
      <p:sp>
        <p:nvSpPr>
          <p:cNvPr id="7" name="AutoShape 7"/>
          <p:cNvSpPr/>
          <p:nvPr/>
        </p:nvSpPr>
        <p:spPr>
          <a:xfrm>
            <a:off x="680720" y="1049020"/>
            <a:ext cx="10847892" cy="46166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a:lnSpc>
                <a:spcPct val="100000"/>
              </a:lnSpc>
              <a:defRPr/>
            </a:pPr>
            <a:r>
              <a:rPr lang="zh-CN" altLang="en-US" sz="24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扩展要求5一一音频可视化表现与自主创意</a:t>
            </a:r>
          </a:p>
        </p:txBody>
      </p:sp>
      <p:sp>
        <p:nvSpPr>
          <p:cNvPr id="8" name="AutoShape 8"/>
          <p:cNvSpPr/>
          <p:nvPr/>
        </p:nvSpPr>
        <p:spPr>
          <a:xfrm>
            <a:off x="317500" y="1651000"/>
            <a:ext cx="5397500" cy="3492500"/>
          </a:xfrm>
          <a:prstGeom prst="roundRect">
            <a:avLst>
              <a:gd name="adj" fmla="val 0"/>
            </a:avLst>
          </a:prstGeom>
          <a:solidFill>
            <a:srgbClr val="E1EBFA">
              <a:alpha val="100000"/>
            </a:srgbClr>
          </a:solidFill>
          <a:ln w="12700" cap="flat" cmpd="sng">
            <a:solidFill>
              <a:srgbClr val="96AAC8">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19100" y="1689100"/>
            <a:ext cx="1270000" cy="177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3C5078"/>
                </a:solidFill>
                <a:latin typeface="Noto Sans SC" panose="020B0200000000000000" charset="-122"/>
                <a:ea typeface="Noto Sans SC" panose="020B0200000000000000" charset="-122"/>
                <a:cs typeface="Noto Sans SC" panose="020B0200000000000000" charset="-122"/>
                <a:sym typeface="Noto Sans SC" panose="020B0200000000000000" charset="-122"/>
              </a:rPr>
              <a:t>FPGA Board</a:t>
            </a:r>
            <a:endParaRPr lang="en-US" sz="1100"/>
          </a:p>
        </p:txBody>
      </p:sp>
      <p:sp>
        <p:nvSpPr>
          <p:cNvPr id="10" name="AutoShape 10"/>
          <p:cNvSpPr/>
          <p:nvPr/>
        </p:nvSpPr>
        <p:spPr>
          <a:xfrm>
            <a:off x="508000" y="2159000"/>
            <a:ext cx="1079500" cy="533400"/>
          </a:xfrm>
          <a:prstGeom prst="roundRect">
            <a:avLst>
              <a:gd name="adj" fmla="val 0"/>
            </a:avLst>
          </a:prstGeom>
          <a:solidFill>
            <a:srgbClr val="FFC896">
              <a:alpha val="100000"/>
            </a:srgbClr>
          </a:solidFill>
          <a:ln w="12700" cap="flat" cmpd="sng">
            <a:solidFill>
              <a:srgbClr val="B4783C">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33400" y="2159000"/>
            <a:ext cx="1028700" cy="533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800" b="0" i="0" u="none" strike="noStrike">
                <a:solidFill>
                  <a:srgbClr val="503214"/>
                </a:solidFill>
                <a:latin typeface="Noto Sans SC" panose="020B0200000000000000" charset="-122"/>
                <a:ea typeface="Noto Sans SC" panose="020B0200000000000000" charset="-122"/>
                <a:cs typeface="Noto Sans SC" panose="020B0200000000000000" charset="-122"/>
                <a:sym typeface="Noto Sans SC" panose="020B0200000000000000" charset="-122"/>
              </a:rPr>
              <a:t>SD/TF Interface</a:t>
            </a:r>
            <a:endParaRPr lang="en-US" sz="1100"/>
          </a:p>
        </p:txBody>
      </p:sp>
      <p:sp>
        <p:nvSpPr>
          <p:cNvPr id="12" name="AutoShape 12"/>
          <p:cNvSpPr/>
          <p:nvPr/>
        </p:nvSpPr>
        <p:spPr>
          <a:xfrm>
            <a:off x="2032000" y="2921000"/>
            <a:ext cx="1905000" cy="1206500"/>
          </a:xfrm>
          <a:prstGeom prst="roundRect">
            <a:avLst>
              <a:gd name="adj" fmla="val 0"/>
            </a:avLst>
          </a:prstGeom>
          <a:solidFill>
            <a:srgbClr val="C8E6C8">
              <a:alpha val="100000"/>
            </a:srgbClr>
          </a:solidFill>
          <a:ln w="25400" cap="flat" cmpd="sng">
            <a:solidFill>
              <a:srgbClr val="508250">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057400" y="2971800"/>
            <a:ext cx="1854200" cy="228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000" b="0" i="0" u="none" strike="noStrike">
                <a:solidFill>
                  <a:srgbClr val="285028"/>
                </a:solidFill>
                <a:latin typeface="Noto Sans SC" panose="020B0200000000000000" charset="-122"/>
                <a:ea typeface="Noto Sans SC" panose="020B0200000000000000" charset="-122"/>
                <a:cs typeface="Noto Sans SC" panose="020B0200000000000000" charset="-122"/>
                <a:sym typeface="Noto Sans SC" panose="020B0200000000000000" charset="-122"/>
              </a:rPr>
              <a:t>FPGA</a:t>
            </a:r>
            <a:endParaRPr lang="en-US" sz="1100"/>
          </a:p>
        </p:txBody>
      </p:sp>
      <p:sp>
        <p:nvSpPr>
          <p:cNvPr id="14" name="AutoShape 14"/>
          <p:cNvSpPr/>
          <p:nvPr/>
        </p:nvSpPr>
        <p:spPr>
          <a:xfrm>
            <a:off x="2349500" y="3302000"/>
            <a:ext cx="1270000" cy="482600"/>
          </a:xfrm>
          <a:prstGeom prst="roundRect">
            <a:avLst>
              <a:gd name="adj" fmla="val 0"/>
            </a:avLst>
          </a:prstGeom>
          <a:solidFill>
            <a:srgbClr val="DCF0DC">
              <a:alpha val="100000"/>
            </a:srgbClr>
          </a:solidFill>
          <a:ln w="12700" cap="flat" cmpd="sng">
            <a:solidFill>
              <a:srgbClr val="649664">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374900" y="3302000"/>
            <a:ext cx="1219200" cy="482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285028"/>
                </a:solidFill>
                <a:latin typeface="Noto Sans SC" panose="020B0200000000000000" charset="-122"/>
                <a:ea typeface="Noto Sans SC" panose="020B0200000000000000" charset="-122"/>
                <a:cs typeface="Noto Sans SC" panose="020B0200000000000000" charset="-122"/>
                <a:sym typeface="Noto Sans SC" panose="020B0200000000000000" charset="-122"/>
              </a:rPr>
              <a:t>SDRAM</a:t>
            </a:r>
            <a:endParaRPr lang="en-US" sz="1100"/>
          </a:p>
        </p:txBody>
      </p:sp>
      <p:sp>
        <p:nvSpPr>
          <p:cNvPr id="16" name="AutoShape 16"/>
          <p:cNvSpPr/>
          <p:nvPr/>
        </p:nvSpPr>
        <p:spPr>
          <a:xfrm>
            <a:off x="4254500" y="2159000"/>
            <a:ext cx="1079500" cy="533400"/>
          </a:xfrm>
          <a:prstGeom prst="roundRect">
            <a:avLst>
              <a:gd name="adj" fmla="val 0"/>
            </a:avLst>
          </a:prstGeom>
          <a:solidFill>
            <a:srgbClr val="FFC896">
              <a:alpha val="100000"/>
            </a:srgbClr>
          </a:solidFill>
          <a:ln w="12700" cap="flat" cmpd="sng">
            <a:solidFill>
              <a:srgbClr val="B4783C">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279900" y="2159000"/>
            <a:ext cx="1028700" cy="533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800" b="0" i="0" u="none" strike="noStrike">
                <a:solidFill>
                  <a:srgbClr val="503214"/>
                </a:solidFill>
                <a:latin typeface="Noto Sans SC" panose="020B0200000000000000" charset="-122"/>
                <a:ea typeface="Noto Sans SC" panose="020B0200000000000000" charset="-122"/>
                <a:cs typeface="Noto Sans SC" panose="020B0200000000000000" charset="-122"/>
                <a:sym typeface="Noto Sans SC" panose="020B0200000000000000" charset="-122"/>
              </a:rPr>
              <a:t>HDMI Interface</a:t>
            </a:r>
            <a:endParaRPr lang="en-US" sz="1100"/>
          </a:p>
        </p:txBody>
      </p:sp>
      <p:sp>
        <p:nvSpPr>
          <p:cNvPr id="18" name="AutoShape 18"/>
          <p:cNvSpPr/>
          <p:nvPr/>
        </p:nvSpPr>
        <p:spPr>
          <a:xfrm>
            <a:off x="4953000" y="3632200"/>
            <a:ext cx="533400" cy="406400"/>
          </a:xfrm>
          <a:prstGeom prst="roundRect">
            <a:avLst>
              <a:gd name="adj" fmla="val 0"/>
            </a:avLst>
          </a:prstGeom>
          <a:solidFill>
            <a:srgbClr val="F0F0F0">
              <a:alpha val="100000"/>
            </a:srgbClr>
          </a:solidFill>
          <a:ln w="12700" cap="flat" cmpd="sng">
            <a:solidFill>
              <a:srgbClr val="646464">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4953000" y="3619500"/>
            <a:ext cx="482600" cy="406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显示器</a:t>
            </a:r>
            <a:endParaRPr lang="en-US" sz="1100"/>
          </a:p>
        </p:txBody>
      </p:sp>
      <p:sp>
        <p:nvSpPr>
          <p:cNvPr id="20" name="AutoShape 20"/>
          <p:cNvSpPr/>
          <p:nvPr/>
        </p:nvSpPr>
        <p:spPr>
          <a:xfrm>
            <a:off x="508000" y="3175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08000" y="3187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KEY2</a:t>
            </a:r>
            <a:endParaRPr lang="en-US" sz="1100"/>
          </a:p>
        </p:txBody>
      </p:sp>
      <p:sp>
        <p:nvSpPr>
          <p:cNvPr id="22" name="AutoShape 22"/>
          <p:cNvSpPr/>
          <p:nvPr/>
        </p:nvSpPr>
        <p:spPr>
          <a:xfrm>
            <a:off x="508000" y="36195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508000" y="36322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KEY4</a:t>
            </a:r>
            <a:endParaRPr lang="en-US" sz="1100"/>
          </a:p>
        </p:txBody>
      </p:sp>
      <p:cxnSp>
        <p:nvCxnSpPr>
          <p:cNvPr id="24" name="Connector 24"/>
          <p:cNvCxnSpPr/>
          <p:nvPr/>
        </p:nvCxnSpPr>
        <p:spPr>
          <a:xfrm rot="-137436">
            <a:off x="1587627" y="2419350"/>
            <a:ext cx="317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5" name="Connector 25"/>
          <p:cNvCxnSpPr/>
          <p:nvPr/>
        </p:nvCxnSpPr>
        <p:spPr>
          <a:xfrm>
            <a:off x="1905000" y="2425700"/>
            <a:ext cx="3209" cy="707411"/>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6" name="Connector 26"/>
          <p:cNvCxnSpPr/>
          <p:nvPr/>
        </p:nvCxnSpPr>
        <p:spPr>
          <a:xfrm rot="-342635">
            <a:off x="1907857" y="3117850"/>
            <a:ext cx="1270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27" name="Connector 27"/>
          <p:cNvCxnSpPr/>
          <p:nvPr/>
        </p:nvCxnSpPr>
        <p:spPr>
          <a:xfrm rot="-228844">
            <a:off x="3937211" y="3359150"/>
            <a:ext cx="1905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8" name="Connector 28"/>
          <p:cNvCxnSpPr/>
          <p:nvPr/>
        </p:nvCxnSpPr>
        <p:spPr>
          <a:xfrm rot="-5446453">
            <a:off x="3657600" y="2889207"/>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29" name="Connector 29"/>
          <p:cNvCxnSpPr/>
          <p:nvPr/>
        </p:nvCxnSpPr>
        <p:spPr>
          <a:xfrm rot="-342635">
            <a:off x="4127817" y="2419350"/>
            <a:ext cx="1270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30" name="Connector 30"/>
          <p:cNvCxnSpPr/>
          <p:nvPr/>
        </p:nvCxnSpPr>
        <p:spPr>
          <a:xfrm rot="5209210">
            <a:off x="4673600" y="2800526"/>
            <a:ext cx="2286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31" name="Connector 31"/>
          <p:cNvCxnSpPr/>
          <p:nvPr/>
        </p:nvCxnSpPr>
        <p:spPr>
          <a:xfrm rot="-263922">
            <a:off x="4788144" y="2914650"/>
            <a:ext cx="165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32" name="Connector 32"/>
          <p:cNvCxnSpPr/>
          <p:nvPr/>
        </p:nvCxnSpPr>
        <p:spPr>
          <a:xfrm rot="-46453">
            <a:off x="1092243" y="3308350"/>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33" name="Connector 33"/>
          <p:cNvCxnSpPr/>
          <p:nvPr/>
        </p:nvCxnSpPr>
        <p:spPr>
          <a:xfrm rot="-46453">
            <a:off x="1092243" y="3752850"/>
            <a:ext cx="939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sp>
        <p:nvSpPr>
          <p:cNvPr id="34" name="AutoShape 34"/>
          <p:cNvSpPr/>
          <p:nvPr/>
        </p:nvSpPr>
        <p:spPr>
          <a:xfrm>
            <a:off x="4254500" y="2857500"/>
            <a:ext cx="1079500" cy="4445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4267200" y="2857500"/>
            <a:ext cx="1054100" cy="4445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Audio</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Interface(I2S)</a:t>
            </a:r>
          </a:p>
        </p:txBody>
      </p:sp>
      <p:sp>
        <p:nvSpPr>
          <p:cNvPr id="36" name="AutoShape 36"/>
          <p:cNvSpPr/>
          <p:nvPr/>
        </p:nvSpPr>
        <p:spPr>
          <a:xfrm>
            <a:off x="2032000" y="4254500"/>
            <a:ext cx="19050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2044700" y="4254500"/>
            <a:ext cx="18796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FFT频谱分析</a:t>
            </a:r>
            <a:endParaRPr lang="en-US" sz="1100"/>
          </a:p>
        </p:txBody>
      </p:sp>
      <p:sp>
        <p:nvSpPr>
          <p:cNvPr id="38" name="AutoShape 38"/>
          <p:cNvSpPr/>
          <p:nvPr/>
        </p:nvSpPr>
        <p:spPr>
          <a:xfrm>
            <a:off x="2032000" y="4660900"/>
            <a:ext cx="1905000" cy="2794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2044700" y="4660900"/>
            <a:ext cx="1879600" cy="2794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频谱/波形渲染(RGB)</a:t>
            </a:r>
            <a:endParaRPr lang="en-US" sz="1100"/>
          </a:p>
        </p:txBody>
      </p:sp>
      <p:sp>
        <p:nvSpPr>
          <p:cNvPr id="40" name="AutoShape 40"/>
          <p:cNvSpPr/>
          <p:nvPr/>
        </p:nvSpPr>
        <p:spPr>
          <a:xfrm>
            <a:off x="5905500" y="1524000"/>
            <a:ext cx="6159500" cy="36830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1" name="AutoShape 41"/>
          <p:cNvSpPr/>
          <p:nvPr/>
        </p:nvSpPr>
        <p:spPr>
          <a:xfrm>
            <a:off x="5956300" y="1485900"/>
            <a:ext cx="901700" cy="177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endParaRPr lang="en-US" sz="1100"/>
          </a:p>
        </p:txBody>
      </p:sp>
      <p:sp>
        <p:nvSpPr>
          <p:cNvPr id="42" name="AutoShape 42"/>
          <p:cNvSpPr/>
          <p:nvPr/>
        </p:nvSpPr>
        <p:spPr>
          <a:xfrm>
            <a:off x="6032500" y="1676400"/>
            <a:ext cx="2540000" cy="7874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3" name="AutoShape 43"/>
          <p:cNvSpPr/>
          <p:nvPr/>
        </p:nvSpPr>
        <p:spPr>
          <a:xfrm>
            <a:off x="7620000" y="16383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50MHz</a:t>
            </a:r>
            <a:endParaRPr lang="en-US" sz="1100"/>
          </a:p>
        </p:txBody>
      </p:sp>
      <p:sp>
        <p:nvSpPr>
          <p:cNvPr id="44" name="AutoShape 44"/>
          <p:cNvSpPr/>
          <p:nvPr/>
        </p:nvSpPr>
        <p:spPr>
          <a:xfrm>
            <a:off x="6197600" y="1879600"/>
            <a:ext cx="7620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6210300" y="1879600"/>
            <a:ext cx="7366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数码管</a:t>
            </a:r>
            <a:endParaRPr lang="en-US" sz="1100"/>
          </a:p>
        </p:txBody>
      </p:sp>
      <p:sp>
        <p:nvSpPr>
          <p:cNvPr id="46" name="AutoShape 46"/>
          <p:cNvSpPr/>
          <p:nvPr/>
        </p:nvSpPr>
        <p:spPr>
          <a:xfrm>
            <a:off x="6032500" y="2590800"/>
            <a:ext cx="2540000" cy="10414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47" name="AutoShape 47"/>
          <p:cNvSpPr/>
          <p:nvPr/>
        </p:nvSpPr>
        <p:spPr>
          <a:xfrm>
            <a:off x="7620000" y="25527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100MHz</a:t>
            </a:r>
            <a:endParaRPr lang="en-US" sz="1100"/>
          </a:p>
        </p:txBody>
      </p:sp>
      <p:sp>
        <p:nvSpPr>
          <p:cNvPr id="48" name="AutoShape 48"/>
          <p:cNvSpPr/>
          <p:nvPr/>
        </p:nvSpPr>
        <p:spPr>
          <a:xfrm>
            <a:off x="6197600" y="2794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6197600" y="2806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KEY2</a:t>
            </a:r>
            <a:endParaRPr lang="en-US" sz="1100"/>
          </a:p>
        </p:txBody>
      </p:sp>
      <p:sp>
        <p:nvSpPr>
          <p:cNvPr id="50" name="AutoShape 50"/>
          <p:cNvSpPr/>
          <p:nvPr/>
        </p:nvSpPr>
        <p:spPr>
          <a:xfrm>
            <a:off x="6197600" y="3175000"/>
            <a:ext cx="5842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6197600" y="3187700"/>
            <a:ext cx="5842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KEY4</a:t>
            </a:r>
            <a:endParaRPr lang="en-US" sz="1100"/>
          </a:p>
        </p:txBody>
      </p:sp>
      <p:sp>
        <p:nvSpPr>
          <p:cNvPr id="52" name="AutoShape 52"/>
          <p:cNvSpPr/>
          <p:nvPr/>
        </p:nvSpPr>
        <p:spPr>
          <a:xfrm>
            <a:off x="6959600" y="2946400"/>
            <a:ext cx="609600" cy="3556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3" name="AutoShape 53"/>
          <p:cNvSpPr/>
          <p:nvPr/>
        </p:nvSpPr>
        <p:spPr>
          <a:xfrm>
            <a:off x="6972300" y="2946400"/>
            <a:ext cx="584200" cy="3556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消抖</a:t>
            </a:r>
            <a:endParaRPr lang="en-US" sz="1100"/>
          </a:p>
        </p:txBody>
      </p:sp>
      <p:sp>
        <p:nvSpPr>
          <p:cNvPr id="54" name="AutoShape 54"/>
          <p:cNvSpPr/>
          <p:nvPr/>
        </p:nvSpPr>
        <p:spPr>
          <a:xfrm>
            <a:off x="7747000" y="2946400"/>
            <a:ext cx="698500" cy="3556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55" name="AutoShape 55"/>
          <p:cNvSpPr/>
          <p:nvPr/>
        </p:nvSpPr>
        <p:spPr>
          <a:xfrm>
            <a:off x="7759700" y="2946400"/>
            <a:ext cx="673100" cy="3556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SD卡</a:t>
            </a:r>
            <a:endParaRPr lang="en-US" sz="1100"/>
          </a:p>
        </p:txBody>
      </p:sp>
      <p:cxnSp>
        <p:nvCxnSpPr>
          <p:cNvPr id="56" name="Connector 56"/>
          <p:cNvCxnSpPr/>
          <p:nvPr/>
        </p:nvCxnSpPr>
        <p:spPr>
          <a:xfrm rot="1757807">
            <a:off x="6765175" y="2984603"/>
            <a:ext cx="21137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57" name="Connector 57"/>
          <p:cNvCxnSpPr/>
          <p:nvPr/>
        </p:nvCxnSpPr>
        <p:spPr>
          <a:xfrm rot="-2482314">
            <a:off x="6757782" y="3238390"/>
            <a:ext cx="226117"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58" name="Connector 58"/>
          <p:cNvCxnSpPr/>
          <p:nvPr/>
        </p:nvCxnSpPr>
        <p:spPr>
          <a:xfrm rot="-245137">
            <a:off x="7569426" y="3117850"/>
            <a:ext cx="177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sp>
        <p:nvSpPr>
          <p:cNvPr id="59" name="AutoShape 59"/>
          <p:cNvSpPr/>
          <p:nvPr/>
        </p:nvSpPr>
        <p:spPr>
          <a:xfrm>
            <a:off x="6032500" y="3784600"/>
            <a:ext cx="2540000" cy="9144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60" name="AutoShape 60"/>
          <p:cNvSpPr/>
          <p:nvPr/>
        </p:nvSpPr>
        <p:spPr>
          <a:xfrm>
            <a:off x="7620000" y="37465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12.288MHz(音频)</a:t>
            </a:r>
            <a:endParaRPr lang="en-US" sz="1100"/>
          </a:p>
        </p:txBody>
      </p:sp>
      <p:sp>
        <p:nvSpPr>
          <p:cNvPr id="61" name="AutoShape 61"/>
          <p:cNvSpPr/>
          <p:nvPr/>
        </p:nvSpPr>
        <p:spPr>
          <a:xfrm>
            <a:off x="6159500" y="4038600"/>
            <a:ext cx="660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62" name="AutoShape 62"/>
          <p:cNvSpPr/>
          <p:nvPr/>
        </p:nvSpPr>
        <p:spPr>
          <a:xfrm>
            <a:off x="6172200" y="4038600"/>
            <a:ext cx="635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I2S</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接收</a:t>
            </a:r>
          </a:p>
        </p:txBody>
      </p:sp>
      <p:sp>
        <p:nvSpPr>
          <p:cNvPr id="63" name="AutoShape 63"/>
          <p:cNvSpPr/>
          <p:nvPr/>
        </p:nvSpPr>
        <p:spPr>
          <a:xfrm>
            <a:off x="6921500" y="4038600"/>
            <a:ext cx="660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64" name="AutoShape 64"/>
          <p:cNvSpPr/>
          <p:nvPr/>
        </p:nvSpPr>
        <p:spPr>
          <a:xfrm>
            <a:off x="6934200" y="4038600"/>
            <a:ext cx="635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PCM</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解串</a:t>
            </a:r>
          </a:p>
        </p:txBody>
      </p:sp>
      <p:sp>
        <p:nvSpPr>
          <p:cNvPr id="65" name="AutoShape 65"/>
          <p:cNvSpPr/>
          <p:nvPr/>
        </p:nvSpPr>
        <p:spPr>
          <a:xfrm>
            <a:off x="7683500" y="4038600"/>
            <a:ext cx="660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66" name="AutoShape 66"/>
          <p:cNvSpPr/>
          <p:nvPr/>
        </p:nvSpPr>
        <p:spPr>
          <a:xfrm>
            <a:off x="7696200" y="4038600"/>
            <a:ext cx="635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FFT/</a:t>
            </a:r>
            <a:endParaRPr lang="en-US" sz="1100"/>
          </a:p>
          <a:p>
            <a:pPr marL="0" indent="0" algn="ctr">
              <a:lnSpc>
                <a:spcPct val="88000"/>
              </a:lnSpc>
            </a:pPr>
            <a:r>
              <a:rPr lang="en-US" sz="8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DFT</a:t>
            </a:r>
          </a:p>
        </p:txBody>
      </p:sp>
      <p:cxnSp>
        <p:nvCxnSpPr>
          <p:cNvPr id="67" name="Connector 67"/>
          <p:cNvCxnSpPr/>
          <p:nvPr/>
        </p:nvCxnSpPr>
        <p:spPr>
          <a:xfrm rot="-427500">
            <a:off x="6820295" y="4197350"/>
            <a:ext cx="1016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68" name="Connector 68"/>
          <p:cNvCxnSpPr/>
          <p:nvPr/>
        </p:nvCxnSpPr>
        <p:spPr>
          <a:xfrm rot="-427500">
            <a:off x="7582295" y="4197350"/>
            <a:ext cx="1016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sp>
        <p:nvSpPr>
          <p:cNvPr id="69" name="AutoShape 69"/>
          <p:cNvSpPr/>
          <p:nvPr/>
        </p:nvSpPr>
        <p:spPr>
          <a:xfrm>
            <a:off x="8763000" y="1676400"/>
            <a:ext cx="3200400" cy="3429000"/>
          </a:xfrm>
          <a:prstGeom prst="roundRect">
            <a:avLst>
              <a:gd name="adj" fmla="val 0"/>
            </a:avLst>
          </a:prstGeom>
          <a:solidFill>
            <a:srgbClr val="FFFFFF">
              <a:alpha val="0"/>
            </a:srgbClr>
          </a:solidFill>
          <a:ln w="12700" cap="flat" cmpd="sng">
            <a:solidFill>
              <a:srgbClr val="5A5A5A">
                <a:alpha val="100000"/>
              </a:srgbClr>
            </a:solidFill>
            <a:prstDash val="dash"/>
            <a:round/>
          </a:ln>
        </p:spPr>
        <p:txBody>
          <a:bodyPr vert="horz" wrap="square" lIns="63500" tIns="63500" rIns="63500" bIns="63500" rtlCol="0" anchor="ctr"/>
          <a:lstStyle/>
          <a:p>
            <a:pPr algn="ctr">
              <a:defRPr/>
            </a:pPr>
            <a:endParaRPr/>
          </a:p>
        </p:txBody>
      </p:sp>
      <p:sp>
        <p:nvSpPr>
          <p:cNvPr id="70" name="AutoShape 70"/>
          <p:cNvSpPr/>
          <p:nvPr/>
        </p:nvSpPr>
        <p:spPr>
          <a:xfrm>
            <a:off x="11010900" y="1638300"/>
            <a:ext cx="901700" cy="1778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125MHz(视频)</a:t>
            </a:r>
            <a:endParaRPr lang="en-US" sz="1100"/>
          </a:p>
        </p:txBody>
      </p:sp>
      <p:sp>
        <p:nvSpPr>
          <p:cNvPr id="71" name="AutoShape 71"/>
          <p:cNvSpPr/>
          <p:nvPr/>
        </p:nvSpPr>
        <p:spPr>
          <a:xfrm>
            <a:off x="8890000" y="2032000"/>
            <a:ext cx="7112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72" name="AutoShape 72"/>
          <p:cNvSpPr/>
          <p:nvPr/>
        </p:nvSpPr>
        <p:spPr>
          <a:xfrm>
            <a:off x="8902700" y="2032000"/>
            <a:ext cx="6858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写FIFO</a:t>
            </a:r>
            <a:endParaRPr lang="en-US" sz="1100"/>
          </a:p>
        </p:txBody>
      </p:sp>
      <p:sp>
        <p:nvSpPr>
          <p:cNvPr id="73" name="AutoShape 73"/>
          <p:cNvSpPr/>
          <p:nvPr/>
        </p:nvSpPr>
        <p:spPr>
          <a:xfrm>
            <a:off x="9804400" y="2032000"/>
            <a:ext cx="14224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74" name="AutoShape 74"/>
          <p:cNvSpPr/>
          <p:nvPr/>
        </p:nvSpPr>
        <p:spPr>
          <a:xfrm>
            <a:off x="9817100" y="20320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SDRAM帧缓存</a:t>
            </a:r>
            <a:endParaRPr lang="en-US" sz="1100"/>
          </a:p>
        </p:txBody>
      </p:sp>
      <p:sp>
        <p:nvSpPr>
          <p:cNvPr id="75" name="AutoShape 75"/>
          <p:cNvSpPr/>
          <p:nvPr/>
        </p:nvSpPr>
        <p:spPr>
          <a:xfrm>
            <a:off x="8890000" y="2692400"/>
            <a:ext cx="7112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76" name="AutoShape 76"/>
          <p:cNvSpPr/>
          <p:nvPr/>
        </p:nvSpPr>
        <p:spPr>
          <a:xfrm>
            <a:off x="8902700" y="2692400"/>
            <a:ext cx="6858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读FIFO</a:t>
            </a:r>
            <a:endParaRPr lang="en-US" sz="1100"/>
          </a:p>
        </p:txBody>
      </p:sp>
      <p:sp>
        <p:nvSpPr>
          <p:cNvPr id="77" name="AutoShape 77"/>
          <p:cNvSpPr/>
          <p:nvPr/>
        </p:nvSpPr>
        <p:spPr>
          <a:xfrm>
            <a:off x="9804400" y="2692400"/>
            <a:ext cx="1422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78" name="AutoShape 78"/>
          <p:cNvSpPr/>
          <p:nvPr/>
        </p:nvSpPr>
        <p:spPr>
          <a:xfrm>
            <a:off x="9817100" y="26924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频谱/波形渲染</a:t>
            </a:r>
            <a:endParaRPr lang="en-US" sz="1100"/>
          </a:p>
        </p:txBody>
      </p:sp>
      <p:sp>
        <p:nvSpPr>
          <p:cNvPr id="79" name="AutoShape 79"/>
          <p:cNvSpPr/>
          <p:nvPr/>
        </p:nvSpPr>
        <p:spPr>
          <a:xfrm>
            <a:off x="9804400" y="3352800"/>
            <a:ext cx="1422400" cy="330200"/>
          </a:xfrm>
          <a:prstGeom prst="roundRect">
            <a:avLst>
              <a:gd name="adj" fmla="val 0"/>
            </a:avLst>
          </a:prstGeom>
          <a:solidFill>
            <a:srgbClr val="FFEBEE">
              <a:alpha val="100000"/>
            </a:srgbClr>
          </a:solidFill>
          <a:ln w="12700" cap="flat" cmpd="sng">
            <a:solidFill>
              <a:srgbClr val="CD1020">
                <a:alpha val="100000"/>
              </a:srgbClr>
            </a:solidFill>
            <a:prstDash val="solid"/>
            <a:round/>
          </a:ln>
        </p:spPr>
        <p:txBody>
          <a:bodyPr vert="horz" wrap="square" lIns="63500" tIns="63500" rIns="63500" bIns="63500" rtlCol="0" anchor="ctr"/>
          <a:lstStyle/>
          <a:p>
            <a:pPr algn="ctr">
              <a:defRPr/>
            </a:pPr>
            <a:endParaRPr/>
          </a:p>
        </p:txBody>
      </p:sp>
      <p:sp>
        <p:nvSpPr>
          <p:cNvPr id="80" name="AutoShape 80"/>
          <p:cNvSpPr/>
          <p:nvPr/>
        </p:nvSpPr>
        <p:spPr>
          <a:xfrm>
            <a:off x="9817100" y="33528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1" i="0" u="none" strike="noStrike">
                <a:solidFill>
                  <a:srgbClr val="B4141E"/>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视频叠加</a:t>
            </a:r>
            <a:endParaRPr lang="en-US" sz="1100"/>
          </a:p>
        </p:txBody>
      </p:sp>
      <p:sp>
        <p:nvSpPr>
          <p:cNvPr id="81" name="AutoShape 81"/>
          <p:cNvSpPr/>
          <p:nvPr/>
        </p:nvSpPr>
        <p:spPr>
          <a:xfrm>
            <a:off x="9804400" y="4013200"/>
            <a:ext cx="1422400" cy="3302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82" name="AutoShape 82"/>
          <p:cNvSpPr/>
          <p:nvPr/>
        </p:nvSpPr>
        <p:spPr>
          <a:xfrm>
            <a:off x="9817100" y="4013200"/>
            <a:ext cx="1397000" cy="3302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9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HDMI控制器</a:t>
            </a:r>
            <a:endParaRPr lang="en-US" sz="1100"/>
          </a:p>
        </p:txBody>
      </p:sp>
      <p:sp>
        <p:nvSpPr>
          <p:cNvPr id="83" name="AutoShape 83"/>
          <p:cNvSpPr/>
          <p:nvPr/>
        </p:nvSpPr>
        <p:spPr>
          <a:xfrm>
            <a:off x="9804400" y="4572000"/>
            <a:ext cx="1422400" cy="279400"/>
          </a:xfrm>
          <a:prstGeom prst="roundRect">
            <a:avLst>
              <a:gd name="adj" fmla="val 0"/>
            </a:avLst>
          </a:prstGeom>
          <a:solidFill>
            <a:srgbClr val="FFFFFF">
              <a:alpha val="100000"/>
            </a:srgbClr>
          </a:solidFill>
          <a:ln w="12700" cap="flat" cmpd="sng">
            <a:solidFill>
              <a:srgbClr val="3C3C3C">
                <a:alpha val="100000"/>
              </a:srgbClr>
            </a:solidFill>
            <a:prstDash val="solid"/>
            <a:round/>
          </a:ln>
        </p:spPr>
        <p:txBody>
          <a:bodyPr vert="horz" wrap="square" lIns="63500" tIns="63500" rIns="63500" bIns="63500" rtlCol="0" anchor="ctr"/>
          <a:lstStyle/>
          <a:p>
            <a:pPr algn="ctr">
              <a:defRPr/>
            </a:pPr>
            <a:endParaRPr/>
          </a:p>
        </p:txBody>
      </p:sp>
      <p:sp>
        <p:nvSpPr>
          <p:cNvPr id="84" name="AutoShape 84"/>
          <p:cNvSpPr/>
          <p:nvPr/>
        </p:nvSpPr>
        <p:spPr>
          <a:xfrm>
            <a:off x="9817100" y="4572000"/>
            <a:ext cx="1397000" cy="279400"/>
          </a:xfrm>
          <a:prstGeom prst="rect">
            <a:avLst/>
          </a:prstGeom>
          <a:noFill/>
          <a:ln w="12700" cap="flat" cmpd="sng">
            <a:noFill/>
            <a:prstDash val="solid"/>
            <a:round/>
          </a:ln>
        </p:spPr>
        <p:txBody>
          <a:bodyPr vert="horz" wrap="none" lIns="0" tIns="0" rIns="0" bIns="0" rtlCol="0" anchor="ctr" anchorCtr="0"/>
          <a:lstStyle/>
          <a:p>
            <a:pPr marL="0" indent="0" algn="ctr">
              <a:lnSpc>
                <a:spcPct val="88000"/>
              </a:lnSpc>
              <a:defRPr/>
            </a:pPr>
            <a:r>
              <a:rPr lang="en-US" sz="800" b="0" i="0" u="none" strike="noStrike">
                <a:solidFill>
                  <a:srgbClr val="1E1E1E"/>
                </a:solidFill>
                <a:latin typeface="Noto Sans SC" panose="020B0200000000000000" charset="-122"/>
                <a:ea typeface="Noto Sans SC" panose="020B0200000000000000" charset="-122"/>
                <a:cs typeface="Noto Sans SC" panose="020B0200000000000000" charset="-122"/>
                <a:sym typeface="Noto Sans SC" panose="020B0200000000000000" charset="-122"/>
              </a:rPr>
              <a:t>I2S测试音/ACR</a:t>
            </a:r>
            <a:endParaRPr lang="en-US" sz="1100"/>
          </a:p>
        </p:txBody>
      </p:sp>
      <p:sp>
        <p:nvSpPr>
          <p:cNvPr id="85" name="AutoShape 85"/>
          <p:cNvSpPr/>
          <p:nvPr/>
        </p:nvSpPr>
        <p:spPr>
          <a:xfrm>
            <a:off x="7061200" y="1803400"/>
            <a:ext cx="14224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状态显示： 频谱模式/幅值</a:t>
            </a:r>
            <a:endParaRPr lang="en-US" sz="1100"/>
          </a:p>
        </p:txBody>
      </p:sp>
      <p:cxnSp>
        <p:nvCxnSpPr>
          <p:cNvPr id="86" name="Connector 86"/>
          <p:cNvCxnSpPr/>
          <p:nvPr/>
        </p:nvCxnSpPr>
        <p:spPr>
          <a:xfrm rot="-263922">
            <a:off x="8445744" y="3117850"/>
            <a:ext cx="165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7" name="Connector 87"/>
          <p:cNvCxnSpPr/>
          <p:nvPr/>
        </p:nvCxnSpPr>
        <p:spPr>
          <a:xfrm rot="-5447089">
            <a:off x="8147050" y="2654257"/>
            <a:ext cx="9271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88" name="Connector 88"/>
          <p:cNvCxnSpPr/>
          <p:nvPr/>
        </p:nvCxnSpPr>
        <p:spPr>
          <a:xfrm rot="-156153">
            <a:off x="8610744" y="2190750"/>
            <a:ext cx="279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89" name="Connector 89"/>
          <p:cNvCxnSpPr/>
          <p:nvPr/>
        </p:nvCxnSpPr>
        <p:spPr>
          <a:xfrm rot="-214580">
            <a:off x="9601398" y="2190750"/>
            <a:ext cx="2032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90" name="Connector 90"/>
          <p:cNvCxnSpPr/>
          <p:nvPr/>
        </p:nvCxnSpPr>
        <p:spPr>
          <a:xfrm rot="5154862">
            <a:off x="9944100" y="2444976"/>
            <a:ext cx="1778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91" name="Connector 91"/>
          <p:cNvCxnSpPr/>
          <p:nvPr/>
        </p:nvCxnSpPr>
        <p:spPr>
          <a:xfrm rot="10744557">
            <a:off x="9245549" y="2533650"/>
            <a:ext cx="787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92" name="Connector 92"/>
          <p:cNvCxnSpPr/>
          <p:nvPr/>
        </p:nvCxnSpPr>
        <p:spPr>
          <a:xfrm rot="5114181">
            <a:off x="9169400" y="2610114"/>
            <a:ext cx="1524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93" name="Connector 93"/>
          <p:cNvCxnSpPr/>
          <p:nvPr/>
        </p:nvCxnSpPr>
        <p:spPr>
          <a:xfrm rot="-214580">
            <a:off x="9601398" y="2851150"/>
            <a:ext cx="2032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none" w="med" len="med"/>
          </a:ln>
        </p:spPr>
      </p:cxnSp>
      <p:cxnSp>
        <p:nvCxnSpPr>
          <p:cNvPr id="94" name="Connector 94"/>
          <p:cNvCxnSpPr/>
          <p:nvPr/>
        </p:nvCxnSpPr>
        <p:spPr>
          <a:xfrm rot="5267844">
            <a:off x="10350500" y="3181472"/>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5" name="Connector 95"/>
          <p:cNvCxnSpPr/>
          <p:nvPr/>
        </p:nvCxnSpPr>
        <p:spPr>
          <a:xfrm rot="5267844">
            <a:off x="10350500" y="3841872"/>
            <a:ext cx="330200" cy="1270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cxnSp>
        <p:nvCxnSpPr>
          <p:cNvPr id="96" name="Connector 96"/>
          <p:cNvCxnSpPr/>
          <p:nvPr/>
        </p:nvCxnSpPr>
        <p:spPr>
          <a:xfrm rot="-5590789">
            <a:off x="10401300" y="4451174"/>
            <a:ext cx="228600" cy="12700"/>
          </a:xfrm>
          <a:prstGeom prst="straightConnector1">
            <a:avLst/>
          </a:prstGeom>
          <a:solidFill>
            <a:srgbClr val="DEE0E3">
              <a:alpha val="100000"/>
            </a:srgbClr>
          </a:solidFill>
          <a:ln w="12700" cap="flat" cmpd="sng">
            <a:solidFill>
              <a:srgbClr val="3C3C3C">
                <a:alpha val="100000"/>
              </a:srgbClr>
            </a:solidFill>
            <a:prstDash val="solid"/>
            <a:round/>
            <a:headEnd type="none" w="med" len="med"/>
            <a:tailEnd type="arrow" w="sm" len="sm"/>
          </a:ln>
        </p:spPr>
      </p:cxnSp>
      <p:cxnSp>
        <p:nvCxnSpPr>
          <p:cNvPr id="97" name="Connector 97"/>
          <p:cNvCxnSpPr/>
          <p:nvPr/>
        </p:nvCxnSpPr>
        <p:spPr>
          <a:xfrm>
            <a:off x="8358505" y="4202430"/>
            <a:ext cx="346710" cy="7620"/>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98" name="Connector 98"/>
          <p:cNvCxnSpPr/>
          <p:nvPr/>
        </p:nvCxnSpPr>
        <p:spPr>
          <a:xfrm flipV="1">
            <a:off x="8722934" y="2857432"/>
            <a:ext cx="1967" cy="1352649"/>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none" w="med" len="med"/>
          </a:ln>
        </p:spPr>
      </p:cxnSp>
      <p:cxnSp>
        <p:nvCxnSpPr>
          <p:cNvPr id="99" name="Connector 99"/>
          <p:cNvCxnSpPr/>
          <p:nvPr/>
        </p:nvCxnSpPr>
        <p:spPr>
          <a:xfrm flipV="1">
            <a:off x="8723077" y="2857500"/>
            <a:ext cx="1081391" cy="7059"/>
          </a:xfrm>
          <a:prstGeom prst="straightConnector1">
            <a:avLst/>
          </a:prstGeom>
          <a:solidFill>
            <a:srgbClr val="DEE0E3">
              <a:alpha val="100000"/>
            </a:srgbClr>
          </a:solidFill>
          <a:ln w="12700" cap="flat" cmpd="sng">
            <a:solidFill>
              <a:srgbClr val="CD1020">
                <a:alpha val="100000"/>
              </a:srgbClr>
            </a:solidFill>
            <a:prstDash val="solid"/>
            <a:round/>
            <a:headEnd type="none" w="med" len="med"/>
            <a:tailEnd type="arrow" w="sm" len="sm"/>
          </a:ln>
        </p:spPr>
      </p:cxnSp>
      <p:sp>
        <p:nvSpPr>
          <p:cNvPr id="100" name="AutoShape 100"/>
          <p:cNvSpPr/>
          <p:nvPr/>
        </p:nvSpPr>
        <p:spPr>
          <a:xfrm>
            <a:off x="8737600" y="3365500"/>
            <a:ext cx="762000" cy="152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CD1020"/>
                </a:solidFill>
                <a:latin typeface="Noto Sans SC" panose="020B0200000000000000" charset="-122"/>
                <a:ea typeface="Noto Sans SC" panose="020B0200000000000000" charset="-122"/>
                <a:cs typeface="Noto Sans SC" panose="020B0200000000000000" charset="-122"/>
                <a:sym typeface="Noto Sans SC" panose="020B0200000000000000" charset="-122"/>
              </a:rPr>
              <a:t>频谱能量</a:t>
            </a:r>
            <a:endParaRPr lang="en-US" sz="1100"/>
          </a:p>
        </p:txBody>
      </p:sp>
      <p:sp>
        <p:nvSpPr>
          <p:cNvPr id="101" name="AutoShape 101"/>
          <p:cNvSpPr/>
          <p:nvPr/>
        </p:nvSpPr>
        <p:spPr>
          <a:xfrm>
            <a:off x="10668000" y="4343400"/>
            <a:ext cx="825500" cy="152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7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PCM/CTS/N</a:t>
            </a:r>
            <a:endParaRPr lang="en-US" sz="1100"/>
          </a:p>
        </p:txBody>
      </p:sp>
      <p:sp>
        <p:nvSpPr>
          <p:cNvPr id="102" name="AutoShape 102"/>
          <p:cNvSpPr/>
          <p:nvPr/>
        </p:nvSpPr>
        <p:spPr>
          <a:xfrm>
            <a:off x="698500" y="5308600"/>
            <a:ext cx="10795000" cy="1104900"/>
          </a:xfrm>
          <a:prstGeom prst="rect">
            <a:avLst/>
          </a:prstGeom>
          <a:noFill/>
          <a:ln w="12700" cap="flat" cmpd="sng">
            <a:noFill/>
            <a:prstDash val="solid"/>
            <a:round/>
          </a:ln>
        </p:spPr>
        <p:txBody>
          <a:bodyPr vert="horz" wrap="square" lIns="0" tIns="0" rIns="0" bIns="0" rtlCol="0" anchor="t" anchorCtr="0"/>
          <a:lstStyle/>
          <a:p>
            <a:pPr indent="457200">
              <a:lnSpc>
                <a:spcPct val="150000"/>
              </a:lnSpc>
              <a:defRPr/>
            </a:pP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在例程</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5</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音频通路基础上，采集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24-bit </a:t>
            </a:r>
            <a:r>
              <a:rPr lang="en-US" altLang="zh-CN" sz="1600"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PCM</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音频样本，通过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FFT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或自研 </a:t>
            </a:r>
            <a:r>
              <a:rPr lang="en-US" altLang="zh-CN" sz="1600" dirty="0" err="1">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DFT</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模块计算频谱能量，将频谱柱状图或波形渲染为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RGB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像素数据，与视频帧在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HDMI </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输出前叠加，实现随音乐律动的可视化效果。也可结合外接 </a:t>
            </a:r>
            <a:r>
              <a:rPr lang="en-US" altLang="zh-CN"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ADC/DAC</a:t>
            </a:r>
            <a:r>
              <a:rPr lang="zh-CN" altLang="en-US" sz="1600" dirty="0">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、电机、点阵等模块开展音视频联动、多屏显示等自主创意设计。</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0" y="1727124"/>
            <a:ext cx="9799021" cy="3403752"/>
          </a:xfrm>
          <a:prstGeom prst="rect">
            <a:avLst/>
          </a:prstGeom>
          <a:noFill/>
          <a:ln w="12700">
            <a:noFill/>
            <a:prstDash val="solid"/>
          </a:ln>
        </p:spPr>
        <p:txBody>
          <a:bodyPr wrap="square" lIns="91440" tIns="45720" rIns="91440" bIns="45720" rtlCol="0" anchor="t">
            <a:spAutoFit/>
          </a:bodyPr>
          <a:lstStyle>
            <a:lvl1pPr marL="546100" indent="-203200"/>
            <a:lvl2pPr marL="1003300" indent="-203200"/>
            <a:lvl3pPr marL="1460500" indent="-203200"/>
            <a:lvl4pPr marL="1917700" indent="-203200"/>
            <a:lvl5pPr marL="2374900" indent="-203200"/>
            <a:lvl6pPr marL="2832100" indent="-203200"/>
            <a:lvl7pPr marL="3289300" indent="-203200"/>
            <a:lvl8pPr marL="3746500" indent="-203200"/>
            <a:lvl9pPr marL="4203700" indent="-203200"/>
          </a:lstStyle>
          <a:p>
            <a:pPr marL="342900" indent="-342900" algn="just">
              <a:lnSpc>
                <a:spcPct val="150000"/>
              </a:lnSpc>
              <a:spcAft>
                <a:spcPts val="1200"/>
              </a:spcAft>
              <a:buClr>
                <a:srgbClr val="132141"/>
              </a:buClr>
              <a:buFont typeface="+mj-lt"/>
              <a:buAutoNum type="arabicPeriod"/>
              <a:defRPr/>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赛题一所用开发板必须为HX4S20C开发板。</a:t>
            </a:r>
            <a:endParaRPr lang="en-US" sz="1100"/>
          </a:p>
          <a:p>
            <a:pPr marL="342900" indent="-342900" algn="just">
              <a:lnSpc>
                <a:spcPct val="150000"/>
              </a:lnSpc>
              <a:spcAft>
                <a:spcPts val="1200"/>
              </a:spcAft>
              <a:buClr>
                <a:srgbClr val="132141"/>
              </a:buClr>
              <a:buFont typeface="+mj-lt"/>
              <a:buAutoNum type="arabicPeriod"/>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最终提交设计必须固化在开发板上，上电即可运行，无需再使用PC下载。</a:t>
            </a:r>
          </a:p>
          <a:p>
            <a:pPr marL="342900" indent="-342900" algn="just">
              <a:lnSpc>
                <a:spcPct val="150000"/>
              </a:lnSpc>
              <a:spcAft>
                <a:spcPts val="1200"/>
              </a:spcAft>
              <a:buClr>
                <a:srgbClr val="132141"/>
              </a:buClr>
              <a:buFont typeface="+mj-lt"/>
              <a:buAutoNum type="arabicPeriod"/>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最终已实现的基础要求和扩展要求必须整合为完整的最终设计，在测试时不能通过多次加载固化镜像以单独实现基础要求和扩展要求。</a:t>
            </a:r>
          </a:p>
          <a:p>
            <a:pPr marL="342900" indent="-342900" algn="just">
              <a:lnSpc>
                <a:spcPct val="150000"/>
              </a:lnSpc>
              <a:spcAft>
                <a:spcPts val="1200"/>
              </a:spcAft>
              <a:buClr>
                <a:srgbClr val="132141"/>
              </a:buClr>
              <a:buFont typeface="+mj-lt"/>
              <a:buAutoNum type="arabicPeriod"/>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最终设计应该具有实用性。</a:t>
            </a:r>
          </a:p>
          <a:p>
            <a:pPr marL="342900" indent="-342900" algn="just">
              <a:lnSpc>
                <a:spcPct val="150000"/>
              </a:lnSpc>
              <a:spcAft>
                <a:spcPts val="1200"/>
              </a:spcAft>
              <a:buClr>
                <a:srgbClr val="132141"/>
              </a:buClr>
              <a:buFont typeface="+mj-lt"/>
              <a:buAutoNum type="arabicPeriod"/>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例程1和例程2为参考例程，为赛题一的设计提供一些思路以及方向。</a:t>
            </a:r>
          </a:p>
          <a:p>
            <a:pPr marL="342900" indent="-342900" algn="just">
              <a:lnSpc>
                <a:spcPct val="150000"/>
              </a:lnSpc>
              <a:spcAft>
                <a:spcPts val="1200"/>
              </a:spcAft>
              <a:buClr>
                <a:srgbClr val="132141"/>
              </a:buClr>
              <a:buFont typeface="+mj-lt"/>
              <a:buAutoNum type="arabicPeriod"/>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赛题最终评测不依据使用资源的大小，推荐以优化的逻辑和最低的功耗来实现最终的设计。</a:t>
            </a:r>
          </a:p>
        </p:txBody>
      </p:sp>
      <p:sp>
        <p:nvSpPr>
          <p:cNvPr id="4" name="AutoShape 4"/>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赛题注意事项</a:t>
            </a:r>
            <a:endParaRPr lang="en-US" sz="1100"/>
          </a:p>
        </p:txBody>
      </p:sp>
      <p:sp>
        <p:nvSpPr>
          <p:cNvPr id="5" name="AutoShape 5"/>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赛题解析</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80480" y="2577313"/>
            <a:ext cx="5032147"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spc="600">
                <a:solidFill>
                  <a:srgbClr val="132141"/>
                </a:solidFill>
                <a:latin typeface="思源黑体 CN Heavy"/>
                <a:ea typeface="思源黑体 CN Heavy"/>
                <a:cs typeface="思源黑体 CN Heavy"/>
                <a:sym typeface="思源黑体 CN Heavy"/>
              </a:rPr>
              <a:t>技术支持与技术资源</a:t>
            </a:r>
            <a:endParaRPr lang="en-US" sz="1100"/>
          </a:p>
        </p:txBody>
      </p:sp>
      <p:sp>
        <p:nvSpPr>
          <p:cNvPr id="3" name="AutoShape 3"/>
          <p:cNvSpPr/>
          <p:nvPr/>
        </p:nvSpPr>
        <p:spPr>
          <a:xfrm>
            <a:off x="971772" y="1731281"/>
            <a:ext cx="1869423" cy="64633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3600" b="0" i="0" u="none" strike="noStrike">
                <a:solidFill>
                  <a:srgbClr val="CD1220"/>
                </a:solidFill>
                <a:latin typeface="思源黑体 CN Heavy"/>
                <a:ea typeface="思源黑体 CN Heavy"/>
                <a:cs typeface="思源黑体 CN Heavy"/>
                <a:sym typeface="思源黑体 CN Heavy"/>
              </a:rPr>
              <a:t>Part 04</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80720" y="1864453"/>
            <a:ext cx="9799021" cy="418320"/>
          </a:xfrm>
          <a:prstGeom prst="rect">
            <a:avLst/>
          </a:prstGeom>
          <a:noFill/>
          <a:ln w="12700">
            <a:noFill/>
            <a:prstDash val="solid"/>
          </a:ln>
        </p:spPr>
        <p:txBody>
          <a:bodyPr wrap="square" lIns="91440" tIns="45720" rIns="91440" bIns="45720" rtlCol="0" anchor="t">
            <a:spAutoFit/>
          </a:bodyPr>
          <a:lstStyle/>
          <a:p>
            <a:pPr marL="0" indent="0" algn="just">
              <a:lnSpc>
                <a:spcPct val="150000"/>
              </a:lnSpc>
              <a:spcAft>
                <a:spcPts val="1200"/>
              </a:spcAft>
              <a:defRPr/>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QQ群：1050628457</a:t>
            </a:r>
            <a:endParaRPr lang="en-US" sz="1100"/>
          </a:p>
        </p:txBody>
      </p:sp>
      <p:sp>
        <p:nvSpPr>
          <p:cNvPr id="4" name="AutoShape 4"/>
          <p:cNvSpPr/>
          <p:nvPr/>
        </p:nvSpPr>
        <p:spPr>
          <a:xfrm>
            <a:off x="680720" y="1049006"/>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竞赛技术交流</a:t>
            </a:r>
            <a:endParaRPr lang="en-US" sz="1100"/>
          </a:p>
        </p:txBody>
      </p:sp>
      <p:sp>
        <p:nvSpPr>
          <p:cNvPr id="5" name="AutoShape 5"/>
          <p:cNvSpPr/>
          <p:nvPr/>
        </p:nvSpPr>
        <p:spPr>
          <a:xfrm>
            <a:off x="1092199" y="140708"/>
            <a:ext cx="8598647" cy="5232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800" b="0" i="0" u="none" strike="noStrike" spc="300">
                <a:solidFill>
                  <a:srgbClr val="0D0D0D"/>
                </a:solidFill>
                <a:latin typeface="思源黑体 CN Heavy"/>
                <a:ea typeface="思源黑体 CN Heavy"/>
                <a:cs typeface="思源黑体 CN Heavy"/>
                <a:sym typeface="思源黑体 CN Heavy"/>
              </a:rPr>
              <a:t>技术支持与技术资源</a:t>
            </a:r>
            <a:endParaRPr lang="en-US" sz="1100"/>
          </a:p>
        </p:txBody>
      </p:sp>
      <p:sp>
        <p:nvSpPr>
          <p:cNvPr id="6" name="AutoShape 6"/>
          <p:cNvSpPr/>
          <p:nvPr/>
        </p:nvSpPr>
        <p:spPr>
          <a:xfrm>
            <a:off x="680720" y="3452002"/>
            <a:ext cx="9799021" cy="983615"/>
          </a:xfrm>
          <a:prstGeom prst="rect">
            <a:avLst/>
          </a:prstGeom>
          <a:noFill/>
          <a:ln w="12700">
            <a:noFill/>
            <a:prstDash val="solid"/>
          </a:ln>
        </p:spPr>
        <p:txBody>
          <a:bodyPr wrap="square" lIns="91440" tIns="45720" rIns="91440" bIns="45720" rtlCol="0" anchor="t">
            <a:spAutoFit/>
          </a:bodyPr>
          <a:lstStyle/>
          <a:p>
            <a:pPr marL="0" indent="0" algn="just">
              <a:lnSpc>
                <a:spcPct val="150000"/>
              </a:lnSpc>
              <a:spcAft>
                <a:spcPts val="1200"/>
              </a:spcAft>
              <a:defRPr/>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通过百度网盘分享的文件：HX4S20_Contest_202606</a:t>
            </a:r>
            <a:endParaRPr lang="en-US" sz="1100"/>
          </a:p>
          <a:p>
            <a:pPr marL="0" indent="0" algn="just">
              <a:lnSpc>
                <a:spcPct val="150000"/>
              </a:lnSpc>
              <a:spcAft>
                <a:spcPts val="1200"/>
              </a:spcAft>
            </a:pPr>
            <a:r>
              <a:rPr lang="en-US" sz="1600" b="0" i="0" u="none" strike="noStrike">
                <a:solidFill>
                  <a:srgbClr val="13214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链接: https://pan.baidu.com/s/1ysv_FmmgZKuM0rBiHfSv8w 提取码：M5N1 </a:t>
            </a:r>
          </a:p>
        </p:txBody>
      </p:sp>
      <p:sp>
        <p:nvSpPr>
          <p:cNvPr id="7" name="AutoShape 7"/>
          <p:cNvSpPr/>
          <p:nvPr/>
        </p:nvSpPr>
        <p:spPr>
          <a:xfrm>
            <a:off x="680720" y="2636555"/>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板卡资料下载</a:t>
            </a:r>
            <a:endParaRPr lang="en-US" sz="1100"/>
          </a:p>
        </p:txBody>
      </p:sp>
      <p:sp>
        <p:nvSpPr>
          <p:cNvPr id="8" name="AutoShape 8"/>
          <p:cNvSpPr/>
          <p:nvPr/>
        </p:nvSpPr>
        <p:spPr>
          <a:xfrm>
            <a:off x="680720" y="4747324"/>
            <a:ext cx="7513021" cy="461665"/>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2400" b="0" i="0" u="none" strike="noStrike" spc="300">
                <a:solidFill>
                  <a:srgbClr val="0D0D0D"/>
                </a:solidFill>
                <a:latin typeface="思源黑体 CN Heavy"/>
                <a:ea typeface="思源黑体 CN Heavy"/>
                <a:cs typeface="思源黑体 CN Heavy"/>
                <a:sym typeface="思源黑体 CN Heavy"/>
              </a:rPr>
              <a:t>板卡获取途径</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3077172" y="6359829"/>
            <a:ext cx="2662908"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CD1220"/>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上海市浦东新区中科路1867号C座8/11-12层</a:t>
            </a:r>
            <a:endParaRPr lang="en-US" sz="1100"/>
          </a:p>
        </p:txBody>
      </p:sp>
      <p:pic>
        <p:nvPicPr>
          <p:cNvPr id="4" name="Picture 4"/>
          <p:cNvPicPr>
            <a:picLocks noChangeAspect="1"/>
          </p:cNvPicPr>
          <p:nvPr/>
        </p:nvPicPr>
        <p:blipFill>
          <a:blip r:embed="rId2"/>
          <a:srcRect/>
          <a:stretch>
            <a:fillRect/>
          </a:stretch>
        </p:blipFill>
        <p:spPr>
          <a:xfrm>
            <a:off x="7216374" y="6354494"/>
            <a:ext cx="211822" cy="210724"/>
          </a:xfrm>
          <a:prstGeom prst="rect">
            <a:avLst/>
          </a:prstGeom>
          <a:ln w="12700">
            <a:noFill/>
            <a:prstDash val="solid"/>
          </a:ln>
        </p:spPr>
      </p:pic>
      <p:pic>
        <p:nvPicPr>
          <p:cNvPr id="5" name="Picture 5"/>
          <p:cNvPicPr>
            <a:picLocks noChangeAspect="1"/>
          </p:cNvPicPr>
          <p:nvPr/>
        </p:nvPicPr>
        <p:blipFill>
          <a:blip r:embed="rId3"/>
          <a:srcRect/>
          <a:stretch>
            <a:fillRect/>
          </a:stretch>
        </p:blipFill>
        <p:spPr>
          <a:xfrm>
            <a:off x="2844339" y="6356669"/>
            <a:ext cx="232833" cy="206375"/>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5710059" y="6354494"/>
            <a:ext cx="272006" cy="210724"/>
          </a:xfrm>
          <a:prstGeom prst="rect">
            <a:avLst/>
          </a:prstGeom>
          <a:ln w="12700">
            <a:noFill/>
            <a:prstDash val="solid"/>
          </a:ln>
        </p:spPr>
      </p:pic>
      <p:sp>
        <p:nvSpPr>
          <p:cNvPr id="7" name="AutoShape 7"/>
          <p:cNvSpPr/>
          <p:nvPr/>
        </p:nvSpPr>
        <p:spPr>
          <a:xfrm>
            <a:off x="5984696" y="6359829"/>
            <a:ext cx="1261884"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CD1220"/>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www.anlogic.com</a:t>
            </a:r>
            <a:endParaRPr lang="en-US" sz="1100"/>
          </a:p>
        </p:txBody>
      </p:sp>
      <p:sp>
        <p:nvSpPr>
          <p:cNvPr id="8" name="AutoShape 8"/>
          <p:cNvSpPr/>
          <p:nvPr/>
        </p:nvSpPr>
        <p:spPr>
          <a:xfrm>
            <a:off x="7428196" y="6359829"/>
            <a:ext cx="1005403" cy="246221"/>
          </a:xfrm>
          <a:prstGeom prst="rect">
            <a:avLst/>
          </a:prstGeom>
          <a:noFill/>
          <a:ln w="12700">
            <a:noFill/>
            <a:prstDash val="solid"/>
          </a:ln>
        </p:spPr>
        <p:txBody>
          <a:bodyPr wrap="none" lIns="91440" tIns="45720" rIns="91440" bIns="45720" rtlCol="0" anchor="t">
            <a:spAutoFit/>
          </a:bodyPr>
          <a:lstStyle/>
          <a:p>
            <a:pPr marL="0" indent="0" algn="l">
              <a:lnSpc>
                <a:spcPct val="100000"/>
              </a:lnSpc>
              <a:defRPr/>
            </a:pPr>
            <a:r>
              <a:rPr lang="en-US" sz="1000" b="0" i="0" u="none" strike="noStrike">
                <a:solidFill>
                  <a:srgbClr val="CD1220"/>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021-61633787</a:t>
            </a:r>
            <a:endParaRPr lang="en-US" sz="1100"/>
          </a:p>
        </p:txBody>
      </p:sp>
      <p:sp>
        <p:nvSpPr>
          <p:cNvPr id="9" name="AutoShape 9"/>
          <p:cNvSpPr/>
          <p:nvPr/>
        </p:nvSpPr>
        <p:spPr>
          <a:xfrm>
            <a:off x="1672045" y="2336390"/>
            <a:ext cx="6674095" cy="707886"/>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4000" b="0" i="0" u="none" strike="noStrike" spc="600">
                <a:solidFill>
                  <a:srgbClr val="132141"/>
                </a:solidFill>
                <a:latin typeface="思源黑体 CN Heavy"/>
                <a:ea typeface="思源黑体 CN Heavy"/>
                <a:cs typeface="思源黑体 CN Heavy"/>
                <a:sym typeface="思源黑体 CN Heavy"/>
              </a:rPr>
              <a:t>欢迎各位同学选择选题一</a:t>
            </a:r>
            <a:endParaRPr lang="en-US" sz="1100"/>
          </a:p>
        </p:txBody>
      </p:sp>
      <p:sp>
        <p:nvSpPr>
          <p:cNvPr id="10" name="AutoShape 10"/>
          <p:cNvSpPr/>
          <p:nvPr/>
        </p:nvSpPr>
        <p:spPr>
          <a:xfrm>
            <a:off x="1763970" y="1550517"/>
            <a:ext cx="2709418" cy="707886"/>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4000" b="0" i="0" u="none" strike="noStrike" spc="600">
                <a:solidFill>
                  <a:srgbClr val="132141"/>
                </a:solidFill>
                <a:latin typeface="思源黑体 CN Heavy"/>
                <a:ea typeface="思源黑体 CN Heavy"/>
                <a:cs typeface="思源黑体 CN Heavy"/>
                <a:sym typeface="思源黑体 CN Heavy"/>
              </a:rPr>
              <a:t>Thanks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2038</Words>
  <Application>Microsoft Office PowerPoint</Application>
  <PresentationFormat>宽屏</PresentationFormat>
  <Paragraphs>344</Paragraphs>
  <Slides>24</Slides>
  <Notes>22</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24</vt:i4>
      </vt:variant>
    </vt:vector>
  </HeadingPairs>
  <TitlesOfParts>
    <vt:vector size="35" baseType="lpstr">
      <vt:lpstr>Noto Sans SC</vt:lpstr>
      <vt:lpstr>等线</vt:lpstr>
      <vt:lpstr>思源黑体 CN Heavy</vt:lpstr>
      <vt:lpstr>思源黑体 CN Medium</vt:lpstr>
      <vt:lpstr>思源黑体 CN Normal</vt:lpstr>
      <vt:lpstr>思源黑体 CN Regular</vt:lpstr>
      <vt:lpstr>Arial</vt:lpstr>
      <vt:lpstr>Roboto</vt:lpstr>
      <vt:lpstr>Office 主题​​</vt:lpstr>
      <vt:lpstr>自定义主题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1369688162@qq.com</cp:lastModifiedBy>
  <cp:revision>12</cp:revision>
  <dcterms:created xsi:type="dcterms:W3CDTF">2026-08-24T04:54:00Z</dcterms:created>
  <dcterms:modified xsi:type="dcterms:W3CDTF">2026-08-24T09:19:31Z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{"Label":"1","ContentProducer":"001191110102MACQD9K64010000","ProduceID":"7677456126371597244","ReservedCode1":"","ContentPropagator":"","PropagateID":"","ReservedCode2":""}</vt:lpwstr>
  </property>
  <property fmtid="{D5CDD505-2E9C-101B-9397-08002B2CF9AE}" pid="3" name="ICV">
    <vt:lpwstr>8824CA0A6F1849E095D02C840D38BE92_12</vt:lpwstr>
  </property>
  <property fmtid="{D5CDD505-2E9C-101B-9397-08002B2CF9AE}" pid="4" name="KSOProductBuildVer">
    <vt:lpwstr>2052-12.1.0.28043</vt:lpwstr>
  </property>
</Properties>
</file>